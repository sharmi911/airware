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Bricolage Grotesque Extra Bold"/>
      <p:regular r:id="rId15"/>
    </p:embeddedFont>
    <p:embeddedFont>
      <p:font typeface="Montserrat"/>
      <p:regular r:id="rId16"/>
    </p:embeddedFont>
    <p:embeddedFont>
      <p:font typeface="Montserrat"/>
      <p:regular r:id="rId17"/>
    </p:embeddedFont>
    <p:embeddedFont>
      <p:font typeface="Montserrat"/>
      <p:regular r:id="rId18"/>
    </p:embeddedFont>
    <p:embeddedFont>
      <p:font typeface="Montserrat"/>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82D5E"/>
          </a:solidFill>
          <a:ln/>
        </p:spPr>
      </p:sp>
      <p:sp>
        <p:nvSpPr>
          <p:cNvPr id="3" name="Shape 1"/>
          <p:cNvSpPr/>
          <p:nvPr/>
        </p:nvSpPr>
        <p:spPr>
          <a:xfrm>
            <a:off x="0" y="0"/>
            <a:ext cx="14630400" cy="8229600"/>
          </a:xfrm>
          <a:prstGeom prst="rect">
            <a:avLst/>
          </a:prstGeom>
          <a:solidFill>
            <a:srgbClr val="090E3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7.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slideLayout" Target="../slideLayouts/slideLayout9.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524720"/>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EEAEF6"/>
                </a:solidFill>
                <a:latin typeface="Bricolage Grotesque Extra Bold" pitchFamily="34" charset="0"/>
                <a:ea typeface="Bricolage Grotesque Extra Bold" pitchFamily="34" charset="-122"/>
                <a:cs typeface="Bricolage Grotesque Extra Bold" pitchFamily="34" charset="-120"/>
              </a:rPr>
              <a:t>Milestone 1: 35% Project Completion</a:t>
            </a:r>
            <a:endParaRPr lang="en-US" sz="4450" dirty="0"/>
          </a:p>
        </p:txBody>
      </p:sp>
      <p:sp>
        <p:nvSpPr>
          <p:cNvPr id="4" name="Text 1"/>
          <p:cNvSpPr/>
          <p:nvPr/>
        </p:nvSpPr>
        <p:spPr>
          <a:xfrm>
            <a:off x="6280190" y="4282440"/>
            <a:ext cx="7556421" cy="725805"/>
          </a:xfrm>
          <a:prstGeom prst="rect">
            <a:avLst/>
          </a:prstGeom>
          <a:noFill/>
          <a:ln/>
        </p:spPr>
        <p:txBody>
          <a:bodyPr wrap="square" lIns="0" tIns="0" rIns="0" bIns="0" rtlCol="0" anchor="t"/>
          <a:lstStyle/>
          <a:p>
            <a:pPr algn="l" indent="0" marL="0">
              <a:lnSpc>
                <a:spcPts val="2850"/>
              </a:lnSpc>
              <a:buNone/>
            </a:pPr>
            <a:r>
              <a:rPr lang="en-US" sz="1750" b="1" dirty="0">
                <a:solidFill>
                  <a:srgbClr val="E5DCE6"/>
                </a:solidFill>
                <a:latin typeface="Montserrat" pitchFamily="34" charset="0"/>
                <a:ea typeface="Montserrat" pitchFamily="34" charset="-122"/>
                <a:cs typeface="Montserrat" pitchFamily="34" charset="-120"/>
              </a:rPr>
              <a:t>Air Quality Monitoring System</a:t>
            </a:r>
            <a:pPr algn="l" indent="0" marL="0">
              <a:lnSpc>
                <a:spcPts val="2850"/>
              </a:lnSpc>
              <a:buNone/>
            </a:pPr>
            <a:r>
              <a:rPr lang="en-US" sz="1750" dirty="0">
                <a:solidFill>
                  <a:srgbClr val="E5DCE6"/>
                </a:solidFill>
                <a:latin typeface="Montserrat" pitchFamily="34" charset="0"/>
                <a:ea typeface="Montserrat" pitchFamily="34" charset="-122"/>
                <a:cs typeface="Montserrat" pitchFamily="34" charset="-120"/>
              </a:rPr>
              <a:t> — Building a smarter way to track and visualize air quality data in real-time</a:t>
            </a:r>
            <a:endParaRPr lang="en-US" sz="1750" dirty="0"/>
          </a:p>
        </p:txBody>
      </p:sp>
      <p:sp>
        <p:nvSpPr>
          <p:cNvPr id="5" name="Shape 2"/>
          <p:cNvSpPr/>
          <p:nvPr/>
        </p:nvSpPr>
        <p:spPr>
          <a:xfrm>
            <a:off x="6280190" y="5271016"/>
            <a:ext cx="2531269" cy="426244"/>
          </a:xfrm>
          <a:prstGeom prst="roundRect">
            <a:avLst>
              <a:gd name="adj" fmla="val 17880"/>
            </a:avLst>
          </a:prstGeom>
          <a:solidFill>
            <a:srgbClr val="3E0845"/>
          </a:solidFill>
          <a:ln/>
        </p:spPr>
      </p:sp>
      <p:sp>
        <p:nvSpPr>
          <p:cNvPr id="6" name="Text 3"/>
          <p:cNvSpPr/>
          <p:nvPr/>
        </p:nvSpPr>
        <p:spPr>
          <a:xfrm>
            <a:off x="6416278" y="5339001"/>
            <a:ext cx="2259092" cy="290274"/>
          </a:xfrm>
          <a:prstGeom prst="rect">
            <a:avLst/>
          </a:prstGeom>
          <a:noFill/>
          <a:ln/>
        </p:spPr>
        <p:txBody>
          <a:bodyPr wrap="none" lIns="0" tIns="0" rIns="0" bIns="0" rtlCol="0" anchor="t"/>
          <a:lstStyle/>
          <a:p>
            <a:pPr algn="l" indent="0" marL="0">
              <a:lnSpc>
                <a:spcPts val="2250"/>
              </a:lnSpc>
              <a:buNone/>
            </a:pPr>
            <a:r>
              <a:rPr lang="en-US" sz="1400" dirty="0">
                <a:solidFill>
                  <a:srgbClr val="E5DCE6"/>
                </a:solidFill>
                <a:latin typeface="Montserrat" pitchFamily="34" charset="0"/>
                <a:ea typeface="Montserrat" pitchFamily="34" charset="-122"/>
                <a:cs typeface="Montserrat" pitchFamily="34" charset="-120"/>
              </a:rPr>
              <a:t>INFOSYS SPRINGBOARD</a:t>
            </a:r>
            <a:endParaRPr lang="en-US" sz="1400" dirty="0"/>
          </a:p>
        </p:txBody>
      </p:sp>
      <p:sp>
        <p:nvSpPr>
          <p:cNvPr id="7" name="Shape 4"/>
          <p:cNvSpPr/>
          <p:nvPr/>
        </p:nvSpPr>
        <p:spPr>
          <a:xfrm>
            <a:off x="8924806" y="5263396"/>
            <a:ext cx="2860596" cy="441484"/>
          </a:xfrm>
          <a:prstGeom prst="roundRect">
            <a:avLst>
              <a:gd name="adj" fmla="val 17263"/>
            </a:avLst>
          </a:prstGeom>
          <a:noFill/>
          <a:ln w="7620">
            <a:solidFill>
              <a:srgbClr val="EEAEF6"/>
            </a:solidFill>
            <a:prstDash val="solid"/>
          </a:ln>
        </p:spPr>
      </p:sp>
      <p:sp>
        <p:nvSpPr>
          <p:cNvPr id="8" name="Text 5"/>
          <p:cNvSpPr/>
          <p:nvPr/>
        </p:nvSpPr>
        <p:spPr>
          <a:xfrm>
            <a:off x="9068514" y="5339001"/>
            <a:ext cx="2573179" cy="290274"/>
          </a:xfrm>
          <a:prstGeom prst="rect">
            <a:avLst/>
          </a:prstGeom>
          <a:noFill/>
          <a:ln/>
        </p:spPr>
        <p:txBody>
          <a:bodyPr wrap="none" lIns="0" tIns="0" rIns="0" bIns="0" rtlCol="0" anchor="t"/>
          <a:lstStyle/>
          <a:p>
            <a:pPr algn="l" indent="0" marL="0">
              <a:lnSpc>
                <a:spcPts val="2250"/>
              </a:lnSpc>
              <a:buNone/>
            </a:pPr>
            <a:r>
              <a:rPr lang="en-US" sz="1400" dirty="0">
                <a:solidFill>
                  <a:srgbClr val="EEAEF6"/>
                </a:solidFill>
                <a:latin typeface="Montserrat" pitchFamily="34" charset="0"/>
                <a:ea typeface="Montserrat" pitchFamily="34" charset="-122"/>
                <a:cs typeface="Montserrat" pitchFamily="34" charset="-120"/>
              </a:rPr>
              <a:t>SHARMIKA GANGADHARAN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219230" y="576858"/>
            <a:ext cx="1821180" cy="393502"/>
          </a:xfrm>
          <a:prstGeom prst="roundRect">
            <a:avLst>
              <a:gd name="adj" fmla="val 17879"/>
            </a:avLst>
          </a:prstGeom>
          <a:solidFill>
            <a:srgbClr val="3E0845"/>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44841" y="689848"/>
            <a:ext cx="167402" cy="167402"/>
          </a:xfrm>
          <a:prstGeom prst="rect">
            <a:avLst/>
          </a:prstGeom>
        </p:spPr>
      </p:pic>
      <p:sp>
        <p:nvSpPr>
          <p:cNvPr id="5" name="Text 1"/>
          <p:cNvSpPr/>
          <p:nvPr/>
        </p:nvSpPr>
        <p:spPr>
          <a:xfrm>
            <a:off x="6595943" y="639604"/>
            <a:ext cx="1318855" cy="268010"/>
          </a:xfrm>
          <a:prstGeom prst="rect">
            <a:avLst/>
          </a:prstGeom>
          <a:noFill/>
          <a:ln/>
        </p:spPr>
        <p:txBody>
          <a:bodyPr wrap="none" lIns="0" tIns="0" rIns="0" bIns="0" rtlCol="0" anchor="t"/>
          <a:lstStyle/>
          <a:p>
            <a:pPr algn="l" indent="0" marL="0">
              <a:lnSpc>
                <a:spcPts val="2100"/>
              </a:lnSpc>
              <a:buNone/>
            </a:pPr>
            <a:r>
              <a:rPr lang="en-US" sz="1300" dirty="0">
                <a:solidFill>
                  <a:srgbClr val="E5DCE6"/>
                </a:solidFill>
                <a:latin typeface="Montserrat" pitchFamily="34" charset="0"/>
                <a:ea typeface="Montserrat" pitchFamily="34" charset="-122"/>
                <a:cs typeface="Montserrat" pitchFamily="34" charset="-120"/>
              </a:rPr>
              <a:t>35% COMPLETE</a:t>
            </a:r>
            <a:endParaRPr lang="en-US" sz="1300" dirty="0"/>
          </a:p>
        </p:txBody>
      </p:sp>
      <p:sp>
        <p:nvSpPr>
          <p:cNvPr id="6" name="Text 2"/>
          <p:cNvSpPr/>
          <p:nvPr/>
        </p:nvSpPr>
        <p:spPr>
          <a:xfrm>
            <a:off x="6219230" y="1054060"/>
            <a:ext cx="7678341" cy="1308735"/>
          </a:xfrm>
          <a:prstGeom prst="rect">
            <a:avLst/>
          </a:prstGeom>
          <a:noFill/>
          <a:ln/>
        </p:spPr>
        <p:txBody>
          <a:bodyPr wrap="square" lIns="0" tIns="0" rIns="0" bIns="0" rtlCol="0" anchor="t"/>
          <a:lstStyle/>
          <a:p>
            <a:pPr algn="l" indent="0" marL="0">
              <a:lnSpc>
                <a:spcPts val="5150"/>
              </a:lnSpc>
              <a:buNone/>
            </a:pPr>
            <a:r>
              <a:rPr lang="en-US" sz="4100" b="1" dirty="0">
                <a:solidFill>
                  <a:srgbClr val="EEAEF6"/>
                </a:solidFill>
                <a:latin typeface="Bricolage Grotesque Extra Bold" pitchFamily="34" charset="0"/>
                <a:ea typeface="Bricolage Grotesque Extra Bold" pitchFamily="34" charset="-122"/>
                <a:cs typeface="Bricolage Grotesque Extra Bold" pitchFamily="34" charset="-120"/>
              </a:rPr>
              <a:t>Foundation Milestone Overview</a:t>
            </a:r>
            <a:endParaRPr lang="en-US" sz="4100" dirty="0"/>
          </a:p>
        </p:txBody>
      </p:sp>
      <p:sp>
        <p:nvSpPr>
          <p:cNvPr id="7" name="Text 3"/>
          <p:cNvSpPr/>
          <p:nvPr/>
        </p:nvSpPr>
        <p:spPr>
          <a:xfrm>
            <a:off x="6219230" y="2676763"/>
            <a:ext cx="7678341" cy="1340168"/>
          </a:xfrm>
          <a:prstGeom prst="rect">
            <a:avLst/>
          </a:prstGeom>
          <a:noFill/>
          <a:ln/>
        </p:spPr>
        <p:txBody>
          <a:bodyPr wrap="square" lIns="0" tIns="0" rIns="0" bIns="0" rtlCol="0" anchor="t"/>
          <a:lstStyle/>
          <a:p>
            <a:pPr algn="l" indent="0" marL="0">
              <a:lnSpc>
                <a:spcPts val="2600"/>
              </a:lnSpc>
              <a:buNone/>
            </a:pPr>
            <a:r>
              <a:rPr lang="en-US" sz="1600" dirty="0">
                <a:solidFill>
                  <a:srgbClr val="E5DCE6"/>
                </a:solidFill>
                <a:latin typeface="Montserrat" pitchFamily="34" charset="0"/>
                <a:ea typeface="Montserrat" pitchFamily="34" charset="-122"/>
                <a:cs typeface="Montserrat" pitchFamily="34" charset="-120"/>
              </a:rPr>
              <a:t>At 35% completion, we've successfully established the core foundation of the Air Quality Monitoring System. This critical milestone focused on strategic planning, intuitive UI design, and robust frontend architecture—creating a solid launchpad for advanced development phases.</a:t>
            </a:r>
            <a:endParaRPr lang="en-US" sz="1600" dirty="0"/>
          </a:p>
        </p:txBody>
      </p:sp>
      <p:sp>
        <p:nvSpPr>
          <p:cNvPr id="8" name="Text 4"/>
          <p:cNvSpPr/>
          <p:nvPr/>
        </p:nvSpPr>
        <p:spPr>
          <a:xfrm>
            <a:off x="6219230" y="4252436"/>
            <a:ext cx="209312" cy="261699"/>
          </a:xfrm>
          <a:prstGeom prst="rect">
            <a:avLst/>
          </a:prstGeom>
          <a:noFill/>
          <a:ln/>
        </p:spPr>
        <p:txBody>
          <a:bodyPr wrap="none" lIns="0" tIns="0" rIns="0" bIns="0" rtlCol="0" anchor="t"/>
          <a:lstStyle/>
          <a:p>
            <a:pPr algn="l" indent="0" marL="0">
              <a:lnSpc>
                <a:spcPts val="2600"/>
              </a:lnSpc>
              <a:buNone/>
            </a:pPr>
            <a:r>
              <a:rPr lang="en-US" sz="1600" dirty="0">
                <a:solidFill>
                  <a:srgbClr val="E5DCE6"/>
                </a:solidFill>
                <a:latin typeface="Bricolage Grotesque Light" pitchFamily="34" charset="0"/>
                <a:ea typeface="Bricolage Grotesque Light" pitchFamily="34" charset="-122"/>
                <a:cs typeface="Bricolage Grotesque Light" pitchFamily="34" charset="-120"/>
              </a:rPr>
              <a:t>01</a:t>
            </a:r>
            <a:endParaRPr lang="en-US" sz="1600" dirty="0"/>
          </a:p>
        </p:txBody>
      </p:sp>
      <p:sp>
        <p:nvSpPr>
          <p:cNvPr id="9" name="Shape 5"/>
          <p:cNvSpPr/>
          <p:nvPr/>
        </p:nvSpPr>
        <p:spPr>
          <a:xfrm>
            <a:off x="6219230" y="4585335"/>
            <a:ext cx="3734514" cy="22860"/>
          </a:xfrm>
          <a:prstGeom prst="rect">
            <a:avLst/>
          </a:prstGeom>
          <a:solidFill>
            <a:srgbClr val="EEAEF6"/>
          </a:solidFill>
          <a:ln/>
        </p:spPr>
      </p:sp>
      <p:sp>
        <p:nvSpPr>
          <p:cNvPr id="10" name="Text 6"/>
          <p:cNvSpPr/>
          <p:nvPr/>
        </p:nvSpPr>
        <p:spPr>
          <a:xfrm>
            <a:off x="6219230" y="4735711"/>
            <a:ext cx="2617351" cy="327065"/>
          </a:xfrm>
          <a:prstGeom prst="rect">
            <a:avLst/>
          </a:prstGeom>
          <a:noFill/>
          <a:ln/>
        </p:spPr>
        <p:txBody>
          <a:bodyPr wrap="none" lIns="0" tIns="0" rIns="0" bIns="0" rtlCol="0" anchor="t"/>
          <a:lstStyle/>
          <a:p>
            <a:pPr algn="l" indent="0" marL="0">
              <a:lnSpc>
                <a:spcPts val="255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Planning &amp; Ideation</a:t>
            </a:r>
            <a:endParaRPr lang="en-US" sz="2050" dirty="0"/>
          </a:p>
        </p:txBody>
      </p:sp>
      <p:sp>
        <p:nvSpPr>
          <p:cNvPr id="11" name="Text 7"/>
          <p:cNvSpPr/>
          <p:nvPr/>
        </p:nvSpPr>
        <p:spPr>
          <a:xfrm>
            <a:off x="6219230" y="5188387"/>
            <a:ext cx="3734514" cy="670084"/>
          </a:xfrm>
          <a:prstGeom prst="rect">
            <a:avLst/>
          </a:prstGeom>
          <a:noFill/>
          <a:ln/>
        </p:spPr>
        <p:txBody>
          <a:bodyPr wrap="square" lIns="0" tIns="0" rIns="0" bIns="0" rtlCol="0" anchor="t"/>
          <a:lstStyle/>
          <a:p>
            <a:pPr algn="l" indent="0" marL="0">
              <a:lnSpc>
                <a:spcPts val="2600"/>
              </a:lnSpc>
              <a:buNone/>
            </a:pPr>
            <a:r>
              <a:rPr lang="en-US" sz="1600" dirty="0">
                <a:solidFill>
                  <a:srgbClr val="E5DCE6"/>
                </a:solidFill>
                <a:latin typeface="Montserrat" pitchFamily="34" charset="0"/>
                <a:ea typeface="Montserrat" pitchFamily="34" charset="-122"/>
                <a:cs typeface="Montserrat" pitchFamily="34" charset="-120"/>
              </a:rPr>
              <a:t>Project scope and objectives defined</a:t>
            </a:r>
            <a:endParaRPr lang="en-US" sz="1600" dirty="0"/>
          </a:p>
        </p:txBody>
      </p:sp>
      <p:sp>
        <p:nvSpPr>
          <p:cNvPr id="12" name="Text 8"/>
          <p:cNvSpPr/>
          <p:nvPr/>
        </p:nvSpPr>
        <p:spPr>
          <a:xfrm>
            <a:off x="10163056" y="4252436"/>
            <a:ext cx="209312" cy="261699"/>
          </a:xfrm>
          <a:prstGeom prst="rect">
            <a:avLst/>
          </a:prstGeom>
          <a:noFill/>
          <a:ln/>
        </p:spPr>
        <p:txBody>
          <a:bodyPr wrap="none" lIns="0" tIns="0" rIns="0" bIns="0" rtlCol="0" anchor="t"/>
          <a:lstStyle/>
          <a:p>
            <a:pPr algn="l" indent="0" marL="0">
              <a:lnSpc>
                <a:spcPts val="2600"/>
              </a:lnSpc>
              <a:buNone/>
            </a:pPr>
            <a:r>
              <a:rPr lang="en-US" sz="1600" dirty="0">
                <a:solidFill>
                  <a:srgbClr val="E5DCE6"/>
                </a:solidFill>
                <a:latin typeface="Bricolage Grotesque Light" pitchFamily="34" charset="0"/>
                <a:ea typeface="Bricolage Grotesque Light" pitchFamily="34" charset="-122"/>
                <a:cs typeface="Bricolage Grotesque Light" pitchFamily="34" charset="-120"/>
              </a:rPr>
              <a:t>02</a:t>
            </a:r>
            <a:endParaRPr lang="en-US" sz="1600" dirty="0"/>
          </a:p>
        </p:txBody>
      </p:sp>
      <p:sp>
        <p:nvSpPr>
          <p:cNvPr id="13" name="Shape 9"/>
          <p:cNvSpPr/>
          <p:nvPr/>
        </p:nvSpPr>
        <p:spPr>
          <a:xfrm>
            <a:off x="10163056" y="4585335"/>
            <a:ext cx="3734514" cy="22860"/>
          </a:xfrm>
          <a:prstGeom prst="rect">
            <a:avLst/>
          </a:prstGeom>
          <a:solidFill>
            <a:srgbClr val="EEAEF6"/>
          </a:solidFill>
          <a:ln/>
        </p:spPr>
      </p:sp>
      <p:sp>
        <p:nvSpPr>
          <p:cNvPr id="14" name="Text 10"/>
          <p:cNvSpPr/>
          <p:nvPr/>
        </p:nvSpPr>
        <p:spPr>
          <a:xfrm>
            <a:off x="10163056" y="4735711"/>
            <a:ext cx="2617351" cy="327065"/>
          </a:xfrm>
          <a:prstGeom prst="rect">
            <a:avLst/>
          </a:prstGeom>
          <a:noFill/>
          <a:ln/>
        </p:spPr>
        <p:txBody>
          <a:bodyPr wrap="none" lIns="0" tIns="0" rIns="0" bIns="0" rtlCol="0" anchor="t"/>
          <a:lstStyle/>
          <a:p>
            <a:pPr algn="l" indent="0" marL="0">
              <a:lnSpc>
                <a:spcPts val="255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UI/UX Design</a:t>
            </a:r>
            <a:endParaRPr lang="en-US" sz="2050" dirty="0"/>
          </a:p>
        </p:txBody>
      </p:sp>
      <p:sp>
        <p:nvSpPr>
          <p:cNvPr id="15" name="Text 11"/>
          <p:cNvSpPr/>
          <p:nvPr/>
        </p:nvSpPr>
        <p:spPr>
          <a:xfrm>
            <a:off x="10163056" y="5188387"/>
            <a:ext cx="3734514" cy="670084"/>
          </a:xfrm>
          <a:prstGeom prst="rect">
            <a:avLst/>
          </a:prstGeom>
          <a:noFill/>
          <a:ln/>
        </p:spPr>
        <p:txBody>
          <a:bodyPr wrap="square" lIns="0" tIns="0" rIns="0" bIns="0" rtlCol="0" anchor="t"/>
          <a:lstStyle/>
          <a:p>
            <a:pPr algn="l" indent="0" marL="0">
              <a:lnSpc>
                <a:spcPts val="2600"/>
              </a:lnSpc>
              <a:buNone/>
            </a:pPr>
            <a:r>
              <a:rPr lang="en-US" sz="1600" dirty="0">
                <a:solidFill>
                  <a:srgbClr val="E5DCE6"/>
                </a:solidFill>
                <a:latin typeface="Montserrat" pitchFamily="34" charset="0"/>
                <a:ea typeface="Montserrat" pitchFamily="34" charset="-122"/>
                <a:cs typeface="Montserrat" pitchFamily="34" charset="-120"/>
              </a:rPr>
              <a:t>Wireframes and dashboard layouts created</a:t>
            </a:r>
            <a:endParaRPr lang="en-US" sz="1600" dirty="0"/>
          </a:p>
        </p:txBody>
      </p:sp>
      <p:sp>
        <p:nvSpPr>
          <p:cNvPr id="16" name="Text 12"/>
          <p:cNvSpPr/>
          <p:nvPr/>
        </p:nvSpPr>
        <p:spPr>
          <a:xfrm>
            <a:off x="6219230" y="6224707"/>
            <a:ext cx="209312" cy="261699"/>
          </a:xfrm>
          <a:prstGeom prst="rect">
            <a:avLst/>
          </a:prstGeom>
          <a:noFill/>
          <a:ln/>
        </p:spPr>
        <p:txBody>
          <a:bodyPr wrap="none" lIns="0" tIns="0" rIns="0" bIns="0" rtlCol="0" anchor="t"/>
          <a:lstStyle/>
          <a:p>
            <a:pPr algn="l" indent="0" marL="0">
              <a:lnSpc>
                <a:spcPts val="2600"/>
              </a:lnSpc>
              <a:buNone/>
            </a:pPr>
            <a:r>
              <a:rPr lang="en-US" sz="1600" dirty="0">
                <a:solidFill>
                  <a:srgbClr val="E5DCE6"/>
                </a:solidFill>
                <a:latin typeface="Bricolage Grotesque Light" pitchFamily="34" charset="0"/>
                <a:ea typeface="Bricolage Grotesque Light" pitchFamily="34" charset="-122"/>
                <a:cs typeface="Bricolage Grotesque Light" pitchFamily="34" charset="-120"/>
              </a:rPr>
              <a:t>03</a:t>
            </a:r>
            <a:endParaRPr lang="en-US" sz="1600" dirty="0"/>
          </a:p>
        </p:txBody>
      </p:sp>
      <p:sp>
        <p:nvSpPr>
          <p:cNvPr id="17" name="Shape 13"/>
          <p:cNvSpPr/>
          <p:nvPr/>
        </p:nvSpPr>
        <p:spPr>
          <a:xfrm>
            <a:off x="6219230" y="6557605"/>
            <a:ext cx="7678341" cy="22860"/>
          </a:xfrm>
          <a:prstGeom prst="rect">
            <a:avLst/>
          </a:prstGeom>
          <a:solidFill>
            <a:srgbClr val="EEAEF6"/>
          </a:solidFill>
          <a:ln/>
        </p:spPr>
      </p:sp>
      <p:sp>
        <p:nvSpPr>
          <p:cNvPr id="18" name="Text 14"/>
          <p:cNvSpPr/>
          <p:nvPr/>
        </p:nvSpPr>
        <p:spPr>
          <a:xfrm>
            <a:off x="6219230" y="6707981"/>
            <a:ext cx="2975491" cy="327065"/>
          </a:xfrm>
          <a:prstGeom prst="rect">
            <a:avLst/>
          </a:prstGeom>
          <a:noFill/>
          <a:ln/>
        </p:spPr>
        <p:txBody>
          <a:bodyPr wrap="none" lIns="0" tIns="0" rIns="0" bIns="0" rtlCol="0" anchor="t"/>
          <a:lstStyle/>
          <a:p>
            <a:pPr algn="l" indent="0" marL="0">
              <a:lnSpc>
                <a:spcPts val="2550"/>
              </a:lnSpc>
              <a:buNone/>
            </a:pPr>
            <a:r>
              <a:rPr lang="en-US" sz="2050" b="1" dirty="0">
                <a:solidFill>
                  <a:srgbClr val="E5DCE6"/>
                </a:solidFill>
                <a:latin typeface="Bricolage Grotesque Extra Bold" pitchFamily="34" charset="0"/>
                <a:ea typeface="Bricolage Grotesque Extra Bold" pitchFamily="34" charset="-122"/>
                <a:cs typeface="Bricolage Grotesque Extra Bold" pitchFamily="34" charset="-120"/>
              </a:rPr>
              <a:t>Frontend Development</a:t>
            </a:r>
            <a:endParaRPr lang="en-US" sz="2050" dirty="0"/>
          </a:p>
        </p:txBody>
      </p:sp>
      <p:sp>
        <p:nvSpPr>
          <p:cNvPr id="19" name="Text 15"/>
          <p:cNvSpPr/>
          <p:nvPr/>
        </p:nvSpPr>
        <p:spPr>
          <a:xfrm>
            <a:off x="6219230" y="7160657"/>
            <a:ext cx="7678341" cy="335042"/>
          </a:xfrm>
          <a:prstGeom prst="rect">
            <a:avLst/>
          </a:prstGeom>
          <a:noFill/>
          <a:ln/>
        </p:spPr>
        <p:txBody>
          <a:bodyPr wrap="none" lIns="0" tIns="0" rIns="0" bIns="0" rtlCol="0" anchor="t"/>
          <a:lstStyle/>
          <a:p>
            <a:pPr algn="l" indent="0" marL="0">
              <a:lnSpc>
                <a:spcPts val="2600"/>
              </a:lnSpc>
              <a:buNone/>
            </a:pPr>
            <a:r>
              <a:rPr lang="en-US" sz="1600" dirty="0">
                <a:solidFill>
                  <a:srgbClr val="E5DCE6"/>
                </a:solidFill>
                <a:latin typeface="Montserrat" pitchFamily="34" charset="0"/>
                <a:ea typeface="Montserrat" pitchFamily="34" charset="-122"/>
                <a:cs typeface="Montserrat" pitchFamily="34" charset="-120"/>
              </a:rPr>
              <a:t>Core structure and navigation built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0322" y="526613"/>
            <a:ext cx="8684538" cy="598527"/>
          </a:xfrm>
          <a:prstGeom prst="rect">
            <a:avLst/>
          </a:prstGeom>
          <a:noFill/>
          <a:ln/>
        </p:spPr>
        <p:txBody>
          <a:bodyPr wrap="none" lIns="0" tIns="0" rIns="0" bIns="0" rtlCol="0" anchor="t"/>
          <a:lstStyle/>
          <a:p>
            <a:pPr algn="l" indent="0" marL="0">
              <a:lnSpc>
                <a:spcPts val="4700"/>
              </a:lnSpc>
              <a:buNone/>
            </a:pPr>
            <a:r>
              <a:rPr lang="en-US" sz="3750" b="1" dirty="0">
                <a:solidFill>
                  <a:srgbClr val="EEAEF6"/>
                </a:solidFill>
                <a:latin typeface="Bricolage Grotesque Extra Bold" pitchFamily="34" charset="0"/>
                <a:ea typeface="Bricolage Grotesque Extra Bold" pitchFamily="34" charset="-122"/>
                <a:cs typeface="Bricolage Grotesque Extra Bold" pitchFamily="34" charset="-120"/>
              </a:rPr>
              <a:t>Project Ideation &amp; Scope Finalization</a:t>
            </a:r>
            <a:endParaRPr lang="en-US" sz="3750" dirty="0"/>
          </a:p>
        </p:txBody>
      </p:sp>
      <p:sp>
        <p:nvSpPr>
          <p:cNvPr id="3" name="Text 1"/>
          <p:cNvSpPr/>
          <p:nvPr/>
        </p:nvSpPr>
        <p:spPr>
          <a:xfrm>
            <a:off x="670322" y="1584722"/>
            <a:ext cx="7786926" cy="919401"/>
          </a:xfrm>
          <a:prstGeom prst="rect">
            <a:avLst/>
          </a:prstGeom>
          <a:noFill/>
          <a:ln/>
        </p:spPr>
        <p:txBody>
          <a:bodyPr wrap="square" lIns="0" tIns="0" rIns="0" bIns="0" rtlCol="0" anchor="t"/>
          <a:lstStyle/>
          <a:p>
            <a:pPr algn="l" indent="0" marL="0">
              <a:lnSpc>
                <a:spcPts val="2400"/>
              </a:lnSpc>
              <a:buNone/>
            </a:pPr>
            <a:r>
              <a:rPr lang="en-US" sz="1500" dirty="0">
                <a:solidFill>
                  <a:srgbClr val="E5DCE6"/>
                </a:solidFill>
                <a:latin typeface="Montserrat" pitchFamily="34" charset="0"/>
                <a:ea typeface="Montserrat" pitchFamily="34" charset="-122"/>
                <a:cs typeface="Montserrat" pitchFamily="34" charset="-120"/>
              </a:rPr>
              <a:t>The first step in building any successful application is crystal-clear planning. We finalized the project concept, defined precise objectives, and mapped out the complete scope to prevent future scope creep.</a:t>
            </a:r>
            <a:endParaRPr lang="en-US" sz="1500" dirty="0"/>
          </a:p>
        </p:txBody>
      </p:sp>
      <p:sp>
        <p:nvSpPr>
          <p:cNvPr id="4" name="Text 2"/>
          <p:cNvSpPr/>
          <p:nvPr/>
        </p:nvSpPr>
        <p:spPr>
          <a:xfrm>
            <a:off x="670322" y="2695575"/>
            <a:ext cx="2648783" cy="299204"/>
          </a:xfrm>
          <a:prstGeom prst="rect">
            <a:avLst/>
          </a:prstGeom>
          <a:noFill/>
          <a:ln/>
        </p:spPr>
        <p:txBody>
          <a:bodyPr wrap="none" lIns="0" tIns="0" rIns="0" bIns="0" rtlCol="0" anchor="t"/>
          <a:lstStyle/>
          <a:p>
            <a:pPr algn="l" indent="0" marL="0">
              <a:lnSpc>
                <a:spcPts val="2350"/>
              </a:lnSpc>
              <a:buNone/>
            </a:pPr>
            <a:r>
              <a:rPr lang="en-US" sz="1850" b="1" dirty="0">
                <a:solidFill>
                  <a:srgbClr val="EEAEF6"/>
                </a:solidFill>
                <a:latin typeface="Bricolage Grotesque Extra Bold" pitchFamily="34" charset="0"/>
                <a:ea typeface="Bricolage Grotesque Extra Bold" pitchFamily="34" charset="-122"/>
                <a:cs typeface="Bricolage Grotesque Extra Bold" pitchFamily="34" charset="-120"/>
              </a:rPr>
              <a:t>Key Accomplishments</a:t>
            </a:r>
            <a:endParaRPr lang="en-US" sz="1850" dirty="0"/>
          </a:p>
        </p:txBody>
      </p:sp>
      <p:sp>
        <p:nvSpPr>
          <p:cNvPr id="5" name="Text 3"/>
          <p:cNvSpPr/>
          <p:nvPr/>
        </p:nvSpPr>
        <p:spPr>
          <a:xfrm>
            <a:off x="670322" y="3186232"/>
            <a:ext cx="7786926" cy="306467"/>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E5DCE6"/>
                </a:solidFill>
                <a:latin typeface="Montserrat" pitchFamily="34" charset="0"/>
                <a:ea typeface="Montserrat" pitchFamily="34" charset="-122"/>
                <a:cs typeface="Montserrat" pitchFamily="34" charset="-120"/>
              </a:rPr>
              <a:t>Identified core features for AQI monitoring and data visualization</a:t>
            </a:r>
            <a:endParaRPr lang="en-US" sz="1500" dirty="0"/>
          </a:p>
        </p:txBody>
      </p:sp>
      <p:sp>
        <p:nvSpPr>
          <p:cNvPr id="6" name="Text 4"/>
          <p:cNvSpPr/>
          <p:nvPr/>
        </p:nvSpPr>
        <p:spPr>
          <a:xfrm>
            <a:off x="670322" y="3559731"/>
            <a:ext cx="7786926" cy="306467"/>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E5DCE6"/>
                </a:solidFill>
                <a:latin typeface="Montserrat" pitchFamily="34" charset="0"/>
                <a:ea typeface="Montserrat" pitchFamily="34" charset="-122"/>
                <a:cs typeface="Montserrat" pitchFamily="34" charset="-120"/>
              </a:rPr>
              <a:t>Established user flow from login to dashboard interaction</a:t>
            </a:r>
            <a:endParaRPr lang="en-US" sz="1500" dirty="0"/>
          </a:p>
        </p:txBody>
      </p:sp>
      <p:sp>
        <p:nvSpPr>
          <p:cNvPr id="7" name="Text 5"/>
          <p:cNvSpPr/>
          <p:nvPr/>
        </p:nvSpPr>
        <p:spPr>
          <a:xfrm>
            <a:off x="670322" y="3933230"/>
            <a:ext cx="7786926" cy="306467"/>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E5DCE6"/>
                </a:solidFill>
                <a:latin typeface="Montserrat" pitchFamily="34" charset="0"/>
                <a:ea typeface="Montserrat" pitchFamily="34" charset="-122"/>
                <a:cs typeface="Montserrat" pitchFamily="34" charset="-120"/>
              </a:rPr>
              <a:t>Planned modular architecture for scalability</a:t>
            </a:r>
            <a:endParaRPr lang="en-US" sz="1500" dirty="0"/>
          </a:p>
        </p:txBody>
      </p:sp>
      <p:sp>
        <p:nvSpPr>
          <p:cNvPr id="8" name="Text 6"/>
          <p:cNvSpPr/>
          <p:nvPr/>
        </p:nvSpPr>
        <p:spPr>
          <a:xfrm>
            <a:off x="670322" y="4306729"/>
            <a:ext cx="7786926" cy="306467"/>
          </a:xfrm>
          <a:prstGeom prst="rect">
            <a:avLst/>
          </a:prstGeom>
          <a:noFill/>
          <a:ln/>
        </p:spPr>
        <p:txBody>
          <a:bodyPr wrap="none" lIns="0" tIns="0" rIns="0" bIns="0" rtlCol="0" anchor="t"/>
          <a:lstStyle/>
          <a:p>
            <a:pPr algn="l" marL="342900" indent="-342900">
              <a:lnSpc>
                <a:spcPts val="2400"/>
              </a:lnSpc>
              <a:buSzPct val="100000"/>
              <a:buChar char="•"/>
            </a:pPr>
            <a:r>
              <a:rPr lang="en-US" sz="1500" dirty="0">
                <a:solidFill>
                  <a:srgbClr val="E5DCE6"/>
                </a:solidFill>
                <a:latin typeface="Montserrat" pitchFamily="34" charset="0"/>
                <a:ea typeface="Montserrat" pitchFamily="34" charset="-122"/>
                <a:cs typeface="Montserrat" pitchFamily="34" charset="-120"/>
              </a:rPr>
              <a:t>Created feature priority matrix for phased development</a:t>
            </a:r>
            <a:endParaRPr lang="en-US" sz="1500" dirty="0"/>
          </a:p>
        </p:txBody>
      </p:sp>
      <p:pic>
        <p:nvPicPr>
          <p:cNvPr id="9" name="Image 0" descr="preencoded.png">    </p:cNvPr>
          <p:cNvPicPr>
            <a:picLocks noChangeAspect="1"/>
          </p:cNvPicPr>
          <p:nvPr/>
        </p:nvPicPr>
        <p:blipFill>
          <a:blip r:embed="rId1"/>
          <a:stretch>
            <a:fillRect/>
          </a:stretch>
        </p:blipFill>
        <p:spPr>
          <a:xfrm>
            <a:off x="8932069" y="1627822"/>
            <a:ext cx="5035510" cy="5035510"/>
          </a:xfrm>
          <a:prstGeom prst="rect">
            <a:avLst/>
          </a:prstGeom>
        </p:spPr>
      </p:pic>
      <p:sp>
        <p:nvSpPr>
          <p:cNvPr id="10" name="Shape 7"/>
          <p:cNvSpPr/>
          <p:nvPr/>
        </p:nvSpPr>
        <p:spPr>
          <a:xfrm>
            <a:off x="670322" y="7094101"/>
            <a:ext cx="13289756" cy="1120259"/>
          </a:xfrm>
          <a:prstGeom prst="roundRect">
            <a:avLst>
              <a:gd name="adj" fmla="val 7181"/>
            </a:avLst>
          </a:prstGeom>
          <a:solidFill>
            <a:srgbClr val="3E0845"/>
          </a:solidFill>
          <a:ln/>
        </p:spPr>
      </p:sp>
      <p:pic>
        <p:nvPicPr>
          <p:cNvPr id="11" name="Image 1" descr="preencoded.png">    </p:cNvPr>
          <p:cNvPicPr>
            <a:picLocks noChangeAspect="1"/>
          </p:cNvPicPr>
          <p:nvPr/>
        </p:nvPicPr>
        <p:blipFill>
          <a:blip r:embed="rId2"/>
          <a:stretch>
            <a:fillRect/>
          </a:stretch>
        </p:blipFill>
        <p:spPr>
          <a:xfrm>
            <a:off x="861774" y="7386876"/>
            <a:ext cx="239316" cy="191453"/>
          </a:xfrm>
          <a:prstGeom prst="rect">
            <a:avLst/>
          </a:prstGeom>
        </p:spPr>
      </p:pic>
      <p:sp>
        <p:nvSpPr>
          <p:cNvPr id="12" name="Text 8"/>
          <p:cNvSpPr/>
          <p:nvPr/>
        </p:nvSpPr>
        <p:spPr>
          <a:xfrm>
            <a:off x="1292542" y="7333417"/>
            <a:ext cx="12476083" cy="612934"/>
          </a:xfrm>
          <a:prstGeom prst="rect">
            <a:avLst/>
          </a:prstGeom>
          <a:noFill/>
          <a:ln/>
        </p:spPr>
        <p:txBody>
          <a:bodyPr wrap="square" lIns="0" tIns="0" rIns="0" bIns="0" rtlCol="0" anchor="t"/>
          <a:lstStyle/>
          <a:p>
            <a:pPr algn="l" indent="0" marL="0">
              <a:lnSpc>
                <a:spcPts val="2400"/>
              </a:lnSpc>
              <a:buNone/>
            </a:pPr>
            <a:r>
              <a:rPr lang="en-US" sz="1500" dirty="0">
                <a:solidFill>
                  <a:srgbClr val="FFFFFF"/>
                </a:solidFill>
                <a:latin typeface="Montserrat" pitchFamily="34" charset="0"/>
                <a:ea typeface="Montserrat" pitchFamily="34" charset="-122"/>
                <a:cs typeface="Montserrat" pitchFamily="34" charset="-120"/>
              </a:rPr>
              <a:t>This foundational planning phase ensured alignment across all project stakeholders and created a roadmap that guides every development decision.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171843" y="655558"/>
            <a:ext cx="7773114" cy="1224201"/>
          </a:xfrm>
          <a:prstGeom prst="rect">
            <a:avLst/>
          </a:prstGeom>
          <a:noFill/>
          <a:ln/>
        </p:spPr>
        <p:txBody>
          <a:bodyPr wrap="square" lIns="0" tIns="0" rIns="0" bIns="0" rtlCol="0" anchor="t"/>
          <a:lstStyle/>
          <a:p>
            <a:pPr algn="l" indent="0" marL="0">
              <a:lnSpc>
                <a:spcPts val="4800"/>
              </a:lnSpc>
              <a:buNone/>
            </a:pPr>
            <a:r>
              <a:rPr lang="en-US" sz="3850" b="1" dirty="0">
                <a:solidFill>
                  <a:srgbClr val="EEAEF6"/>
                </a:solidFill>
                <a:latin typeface="Bricolage Grotesque Extra Bold" pitchFamily="34" charset="0"/>
                <a:ea typeface="Bricolage Grotesque Extra Bold" pitchFamily="34" charset="-122"/>
                <a:cs typeface="Bricolage Grotesque Extra Bold" pitchFamily="34" charset="-120"/>
              </a:rPr>
              <a:t>UI Wireframes &amp; Dashboard Design</a:t>
            </a:r>
            <a:endParaRPr lang="en-US" sz="3850" dirty="0"/>
          </a:p>
        </p:txBody>
      </p:sp>
      <p:sp>
        <p:nvSpPr>
          <p:cNvPr id="4" name="Text 1"/>
          <p:cNvSpPr/>
          <p:nvPr/>
        </p:nvSpPr>
        <p:spPr>
          <a:xfrm>
            <a:off x="6171843" y="2173486"/>
            <a:ext cx="7773114" cy="940118"/>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Great design starts with thoughtful wireframing. We created comprehensive UI wireframes for every major screen, focusing on intuitive navigation and visual hierarchy that puts critical air quality data front and center.</a:t>
            </a:r>
            <a:endParaRPr lang="en-US" sz="1500" dirty="0"/>
          </a:p>
        </p:txBody>
      </p:sp>
      <p:sp>
        <p:nvSpPr>
          <p:cNvPr id="5" name="Shape 2"/>
          <p:cNvSpPr/>
          <p:nvPr/>
        </p:nvSpPr>
        <p:spPr>
          <a:xfrm>
            <a:off x="6171843" y="3333869"/>
            <a:ext cx="3788569" cy="1755338"/>
          </a:xfrm>
          <a:prstGeom prst="roundRect">
            <a:avLst>
              <a:gd name="adj" fmla="val 4687"/>
            </a:avLst>
          </a:prstGeom>
          <a:solidFill>
            <a:srgbClr val="282D5E"/>
          </a:solidFill>
          <a:ln/>
        </p:spPr>
      </p:sp>
      <p:sp>
        <p:nvSpPr>
          <p:cNvPr id="6" name="Text 3"/>
          <p:cNvSpPr/>
          <p:nvPr/>
        </p:nvSpPr>
        <p:spPr>
          <a:xfrm>
            <a:off x="6367701" y="3529727"/>
            <a:ext cx="2448282" cy="305991"/>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Dashboard Layout</a:t>
            </a:r>
            <a:endParaRPr lang="en-US" sz="1900" dirty="0"/>
          </a:p>
        </p:txBody>
      </p:sp>
      <p:sp>
        <p:nvSpPr>
          <p:cNvPr id="7" name="Text 4"/>
          <p:cNvSpPr/>
          <p:nvPr/>
        </p:nvSpPr>
        <p:spPr>
          <a:xfrm>
            <a:off x="6367701" y="3953232"/>
            <a:ext cx="3396853" cy="940118"/>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Clean, organized interface with AQI metrics prominently displayed for instant insights</a:t>
            </a:r>
            <a:endParaRPr lang="en-US" sz="1500" dirty="0"/>
          </a:p>
        </p:txBody>
      </p:sp>
      <p:sp>
        <p:nvSpPr>
          <p:cNvPr id="8" name="Shape 5"/>
          <p:cNvSpPr/>
          <p:nvPr/>
        </p:nvSpPr>
        <p:spPr>
          <a:xfrm>
            <a:off x="10156269" y="3333869"/>
            <a:ext cx="3788688" cy="1755338"/>
          </a:xfrm>
          <a:prstGeom prst="roundRect">
            <a:avLst>
              <a:gd name="adj" fmla="val 4687"/>
            </a:avLst>
          </a:prstGeom>
          <a:solidFill>
            <a:srgbClr val="282D5E"/>
          </a:solidFill>
          <a:ln/>
        </p:spPr>
      </p:sp>
      <p:sp>
        <p:nvSpPr>
          <p:cNvPr id="9" name="Text 6"/>
          <p:cNvSpPr/>
          <p:nvPr/>
        </p:nvSpPr>
        <p:spPr>
          <a:xfrm>
            <a:off x="10352127" y="3529727"/>
            <a:ext cx="2448282" cy="305991"/>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User-Centric Design</a:t>
            </a:r>
            <a:endParaRPr lang="en-US" sz="1900" dirty="0"/>
          </a:p>
        </p:txBody>
      </p:sp>
      <p:sp>
        <p:nvSpPr>
          <p:cNvPr id="10" name="Text 7"/>
          <p:cNvSpPr/>
          <p:nvPr/>
        </p:nvSpPr>
        <p:spPr>
          <a:xfrm>
            <a:off x="10352127" y="3953232"/>
            <a:ext cx="3396972" cy="940118"/>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Intuitive navigation patterns ensuring users can access any feature within two clicks</a:t>
            </a:r>
            <a:endParaRPr lang="en-US" sz="1500" dirty="0"/>
          </a:p>
        </p:txBody>
      </p:sp>
      <p:sp>
        <p:nvSpPr>
          <p:cNvPr id="11" name="Shape 8"/>
          <p:cNvSpPr/>
          <p:nvPr/>
        </p:nvSpPr>
        <p:spPr>
          <a:xfrm>
            <a:off x="6171843" y="5285065"/>
            <a:ext cx="7773114" cy="1441966"/>
          </a:xfrm>
          <a:prstGeom prst="roundRect">
            <a:avLst>
              <a:gd name="adj" fmla="val 5705"/>
            </a:avLst>
          </a:prstGeom>
          <a:solidFill>
            <a:srgbClr val="282D5E"/>
          </a:solidFill>
          <a:ln/>
        </p:spPr>
      </p:sp>
      <p:sp>
        <p:nvSpPr>
          <p:cNvPr id="12" name="Text 9"/>
          <p:cNvSpPr/>
          <p:nvPr/>
        </p:nvSpPr>
        <p:spPr>
          <a:xfrm>
            <a:off x="6367701" y="5480923"/>
            <a:ext cx="2448282" cy="305991"/>
          </a:xfrm>
          <a:prstGeom prst="rect">
            <a:avLst/>
          </a:prstGeom>
          <a:noFill/>
          <a:ln/>
        </p:spPr>
        <p:txBody>
          <a:bodyPr wrap="none" lIns="0" tIns="0" rIns="0" bIns="0" rtlCol="0" anchor="t"/>
          <a:lstStyle/>
          <a:p>
            <a:pPr algn="l" indent="0" marL="0">
              <a:lnSpc>
                <a:spcPts val="2400"/>
              </a:lnSpc>
              <a:buNone/>
            </a:pPr>
            <a:r>
              <a:rPr lang="en-US" sz="1900" b="1" dirty="0">
                <a:solidFill>
                  <a:srgbClr val="E5DCE6"/>
                </a:solidFill>
                <a:latin typeface="Bricolage Grotesque Extra Bold" pitchFamily="34" charset="0"/>
                <a:ea typeface="Bricolage Grotesque Extra Bold" pitchFamily="34" charset="-122"/>
                <a:cs typeface="Bricolage Grotesque Extra Bold" pitchFamily="34" charset="-120"/>
              </a:rPr>
              <a:t>Visual Hierarchy</a:t>
            </a:r>
            <a:endParaRPr lang="en-US" sz="1900" dirty="0"/>
          </a:p>
        </p:txBody>
      </p:sp>
      <p:sp>
        <p:nvSpPr>
          <p:cNvPr id="13" name="Text 10"/>
          <p:cNvSpPr/>
          <p:nvPr/>
        </p:nvSpPr>
        <p:spPr>
          <a:xfrm>
            <a:off x="6367701" y="5904428"/>
            <a:ext cx="7381399" cy="626745"/>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Strategic use of typography and spacing to guide user attention to critical information</a:t>
            </a:r>
            <a:endParaRPr lang="en-US" sz="1500" dirty="0"/>
          </a:p>
        </p:txBody>
      </p:sp>
      <p:sp>
        <p:nvSpPr>
          <p:cNvPr id="14" name="Text 11"/>
          <p:cNvSpPr/>
          <p:nvPr/>
        </p:nvSpPr>
        <p:spPr>
          <a:xfrm>
            <a:off x="6171843" y="6947297"/>
            <a:ext cx="7773114" cy="626745"/>
          </a:xfrm>
          <a:prstGeom prst="rect">
            <a:avLst/>
          </a:prstGeom>
          <a:noFill/>
          <a:ln/>
        </p:spPr>
        <p:txBody>
          <a:bodyPr wrap="square" lIns="0" tIns="0" rIns="0" bIns="0" rtlCol="0" anchor="t"/>
          <a:lstStyle/>
          <a:p>
            <a:pPr algn="l" indent="0" marL="0">
              <a:lnSpc>
                <a:spcPts val="2450"/>
              </a:lnSpc>
              <a:buNone/>
            </a:pPr>
            <a:r>
              <a:rPr lang="en-US" sz="1500" dirty="0">
                <a:solidFill>
                  <a:srgbClr val="E5DCE6"/>
                </a:solidFill>
                <a:latin typeface="Montserrat" pitchFamily="34" charset="0"/>
                <a:ea typeface="Montserrat" pitchFamily="34" charset="-122"/>
                <a:cs typeface="Montserrat" pitchFamily="34" charset="-120"/>
              </a:rPr>
              <a:t>These wireframes served as our blueprint, allowing stakeholders to visualize the final product and provide feedback before a single line of code was written.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4707" y="404336"/>
            <a:ext cx="6400919" cy="459581"/>
          </a:xfrm>
          <a:prstGeom prst="rect">
            <a:avLst/>
          </a:prstGeom>
          <a:noFill/>
          <a:ln/>
        </p:spPr>
        <p:txBody>
          <a:bodyPr wrap="none" lIns="0" tIns="0" rIns="0" bIns="0" rtlCol="0" anchor="t"/>
          <a:lstStyle/>
          <a:p>
            <a:pPr algn="l" indent="0" marL="0">
              <a:lnSpc>
                <a:spcPts val="3600"/>
              </a:lnSpc>
              <a:buNone/>
            </a:pPr>
            <a:r>
              <a:rPr lang="en-US" sz="2850" b="1" dirty="0">
                <a:solidFill>
                  <a:srgbClr val="EEAEF6"/>
                </a:solidFill>
                <a:latin typeface="Bricolage Grotesque Extra Bold" pitchFamily="34" charset="0"/>
                <a:ea typeface="Bricolage Grotesque Extra Bold" pitchFamily="34" charset="-122"/>
                <a:cs typeface="Bricolage Grotesque Extra Bold" pitchFamily="34" charset="-120"/>
              </a:rPr>
              <a:t>Authentication Pages Development</a:t>
            </a:r>
            <a:endParaRPr lang="en-US" sz="2850" dirty="0"/>
          </a:p>
        </p:txBody>
      </p:sp>
      <p:sp>
        <p:nvSpPr>
          <p:cNvPr id="3" name="Text 1"/>
          <p:cNvSpPr/>
          <p:nvPr/>
        </p:nvSpPr>
        <p:spPr>
          <a:xfrm>
            <a:off x="514707" y="1231463"/>
            <a:ext cx="2205871" cy="275749"/>
          </a:xfrm>
          <a:prstGeom prst="rect">
            <a:avLst/>
          </a:prstGeom>
          <a:noFill/>
          <a:ln/>
        </p:spPr>
        <p:txBody>
          <a:bodyPr wrap="none" lIns="0" tIns="0" rIns="0" bIns="0" rtlCol="0" anchor="t"/>
          <a:lstStyle/>
          <a:p>
            <a:pPr algn="l" indent="0" marL="0">
              <a:lnSpc>
                <a:spcPts val="2150"/>
              </a:lnSpc>
              <a:buNone/>
            </a:pPr>
            <a:r>
              <a:rPr lang="en-US" sz="1700" b="1" dirty="0">
                <a:solidFill>
                  <a:srgbClr val="EEAEF6"/>
                </a:solidFill>
                <a:latin typeface="Bricolage Grotesque Extra Bold" pitchFamily="34" charset="0"/>
                <a:ea typeface="Bricolage Grotesque Extra Bold" pitchFamily="34" charset="-122"/>
                <a:cs typeface="Bricolage Grotesque Extra Bold" pitchFamily="34" charset="-120"/>
              </a:rPr>
              <a:t>Secure User Access</a:t>
            </a:r>
            <a:endParaRPr lang="en-US" sz="1700" dirty="0"/>
          </a:p>
        </p:txBody>
      </p:sp>
      <p:sp>
        <p:nvSpPr>
          <p:cNvPr id="4" name="Text 2"/>
          <p:cNvSpPr/>
          <p:nvPr/>
        </p:nvSpPr>
        <p:spPr>
          <a:xfrm>
            <a:off x="514707" y="1654254"/>
            <a:ext cx="6621185" cy="705803"/>
          </a:xfrm>
          <a:prstGeom prst="rect">
            <a:avLst/>
          </a:prstGeom>
          <a:noFill/>
          <a:ln/>
        </p:spPr>
        <p:txBody>
          <a:bodyPr wrap="square" lIns="0" tIns="0" rIns="0" bIns="0" rtlCol="0" anchor="t"/>
          <a:lstStyle/>
          <a:p>
            <a:pPr algn="l" indent="0" marL="0">
              <a:lnSpc>
                <a:spcPts val="1850"/>
              </a:lnSpc>
              <a:buNone/>
            </a:pPr>
            <a:r>
              <a:rPr lang="en-US" sz="1150" dirty="0">
                <a:solidFill>
                  <a:srgbClr val="E5DCE6"/>
                </a:solidFill>
                <a:latin typeface="Montserrat" pitchFamily="34" charset="0"/>
                <a:ea typeface="Montserrat" pitchFamily="34" charset="-122"/>
                <a:cs typeface="Montserrat" pitchFamily="34" charset="-120"/>
              </a:rPr>
              <a:t>We developed comprehensive authentication pages that balance security with user experience. Both login and registration flows feature clean forms with intelligent validation.</a:t>
            </a:r>
            <a:endParaRPr lang="en-US" sz="1150" dirty="0"/>
          </a:p>
        </p:txBody>
      </p:sp>
      <p:sp>
        <p:nvSpPr>
          <p:cNvPr id="5" name="Text 3"/>
          <p:cNvSpPr/>
          <p:nvPr/>
        </p:nvSpPr>
        <p:spPr>
          <a:xfrm>
            <a:off x="514707" y="2507099"/>
            <a:ext cx="1838206" cy="229791"/>
          </a:xfrm>
          <a:prstGeom prst="rect">
            <a:avLst/>
          </a:prstGeom>
          <a:noFill/>
          <a:ln/>
        </p:spPr>
        <p:txBody>
          <a:bodyPr wrap="none" lIns="0" tIns="0" rIns="0" bIns="0" rtlCol="0" anchor="t"/>
          <a:lstStyle/>
          <a:p>
            <a:pPr algn="l" indent="0" marL="0">
              <a:lnSpc>
                <a:spcPts val="1800"/>
              </a:lnSpc>
              <a:buNone/>
            </a:pPr>
            <a:r>
              <a:rPr lang="en-US" sz="1400" b="1" dirty="0">
                <a:solidFill>
                  <a:srgbClr val="EEAEF6"/>
                </a:solidFill>
                <a:latin typeface="Bricolage Grotesque Extra Bold" pitchFamily="34" charset="0"/>
                <a:ea typeface="Bricolage Grotesque Extra Bold" pitchFamily="34" charset="-122"/>
                <a:cs typeface="Bricolage Grotesque Extra Bold" pitchFamily="34" charset="-120"/>
              </a:rPr>
              <a:t>Login Page Features</a:t>
            </a:r>
            <a:endParaRPr lang="en-US" sz="1400" dirty="0"/>
          </a:p>
        </p:txBody>
      </p:sp>
      <p:sp>
        <p:nvSpPr>
          <p:cNvPr id="6" name="Text 4"/>
          <p:cNvSpPr/>
          <p:nvPr/>
        </p:nvSpPr>
        <p:spPr>
          <a:xfrm>
            <a:off x="514707" y="2883932"/>
            <a:ext cx="6621185" cy="235268"/>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E5DCE6"/>
                </a:solidFill>
                <a:latin typeface="Montserrat" pitchFamily="34" charset="0"/>
                <a:ea typeface="Montserrat" pitchFamily="34" charset="-122"/>
                <a:cs typeface="Montserrat" pitchFamily="34" charset="-120"/>
              </a:rPr>
              <a:t>Streamlined credential entry with email validation</a:t>
            </a:r>
            <a:endParaRPr lang="en-US" sz="1150" dirty="0"/>
          </a:p>
        </p:txBody>
      </p:sp>
      <p:sp>
        <p:nvSpPr>
          <p:cNvPr id="7" name="Text 5"/>
          <p:cNvSpPr/>
          <p:nvPr/>
        </p:nvSpPr>
        <p:spPr>
          <a:xfrm>
            <a:off x="514707" y="3170634"/>
            <a:ext cx="6621185" cy="235268"/>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E5DCE6"/>
                </a:solidFill>
                <a:latin typeface="Montserrat" pitchFamily="34" charset="0"/>
                <a:ea typeface="Montserrat" pitchFamily="34" charset="-122"/>
                <a:cs typeface="Montserrat" pitchFamily="34" charset="-120"/>
              </a:rPr>
              <a:t>Password visibility toggle for better UX</a:t>
            </a:r>
            <a:endParaRPr lang="en-US" sz="1150" dirty="0"/>
          </a:p>
        </p:txBody>
      </p:sp>
      <p:sp>
        <p:nvSpPr>
          <p:cNvPr id="8" name="Text 6"/>
          <p:cNvSpPr/>
          <p:nvPr/>
        </p:nvSpPr>
        <p:spPr>
          <a:xfrm>
            <a:off x="514707" y="3457337"/>
            <a:ext cx="6621185" cy="235268"/>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E5DCE6"/>
                </a:solidFill>
                <a:latin typeface="Montserrat" pitchFamily="34" charset="0"/>
                <a:ea typeface="Montserrat" pitchFamily="34" charset="-122"/>
                <a:cs typeface="Montserrat" pitchFamily="34" charset="-120"/>
              </a:rPr>
              <a:t>Remember me functionality</a:t>
            </a:r>
            <a:endParaRPr lang="en-US" sz="1150" dirty="0"/>
          </a:p>
        </p:txBody>
      </p:sp>
      <p:pic>
        <p:nvPicPr>
          <p:cNvPr id="9" name="Image 0" descr="preencoded.png">    </p:cNvPr>
          <p:cNvPicPr>
            <a:picLocks noChangeAspect="1"/>
          </p:cNvPicPr>
          <p:nvPr/>
        </p:nvPicPr>
        <p:blipFill>
          <a:blip r:embed="rId1"/>
          <a:stretch>
            <a:fillRect/>
          </a:stretch>
        </p:blipFill>
        <p:spPr>
          <a:xfrm>
            <a:off x="7502128" y="1249799"/>
            <a:ext cx="6621185" cy="6621185"/>
          </a:xfrm>
          <a:prstGeom prst="rect">
            <a:avLst/>
          </a:prstGeom>
        </p:spPr>
      </p:pic>
      <p:sp>
        <p:nvSpPr>
          <p:cNvPr id="10" name="Shape 7"/>
          <p:cNvSpPr/>
          <p:nvPr/>
        </p:nvSpPr>
        <p:spPr>
          <a:xfrm>
            <a:off x="514707" y="8201739"/>
            <a:ext cx="4435554" cy="1113115"/>
          </a:xfrm>
          <a:prstGeom prst="roundRect">
            <a:avLst>
              <a:gd name="adj" fmla="val 5549"/>
            </a:avLst>
          </a:prstGeom>
          <a:solidFill>
            <a:srgbClr val="090E3F"/>
          </a:solidFill>
          <a:ln w="15240">
            <a:solidFill>
              <a:srgbClr val="414677"/>
            </a:solidFill>
            <a:prstDash val="solid"/>
          </a:ln>
        </p:spPr>
      </p:sp>
      <p:sp>
        <p:nvSpPr>
          <p:cNvPr id="11" name="Text 8"/>
          <p:cNvSpPr/>
          <p:nvPr/>
        </p:nvSpPr>
        <p:spPr>
          <a:xfrm>
            <a:off x="676989" y="8364022"/>
            <a:ext cx="1838206" cy="229791"/>
          </a:xfrm>
          <a:prstGeom prst="rect">
            <a:avLst/>
          </a:prstGeom>
          <a:noFill/>
          <a:ln/>
        </p:spPr>
        <p:txBody>
          <a:bodyPr wrap="none" lIns="0" tIns="0" rIns="0" bIns="0" rtlCol="0" anchor="t"/>
          <a:lstStyle/>
          <a:p>
            <a:pPr algn="l" indent="0" marL="0">
              <a:lnSpc>
                <a:spcPts val="1800"/>
              </a:lnSpc>
              <a:buNone/>
            </a:pPr>
            <a:r>
              <a:rPr lang="en-US" sz="1400" b="1" dirty="0">
                <a:solidFill>
                  <a:srgbClr val="E5DCE6"/>
                </a:solidFill>
                <a:latin typeface="Bricolage Grotesque Extra Bold" pitchFamily="34" charset="0"/>
                <a:ea typeface="Bricolage Grotesque Extra Bold" pitchFamily="34" charset="-122"/>
                <a:cs typeface="Bricolage Grotesque Extra Bold" pitchFamily="34" charset="-120"/>
              </a:rPr>
              <a:t>Registration Flow</a:t>
            </a:r>
            <a:endParaRPr lang="en-US" sz="1400" dirty="0"/>
          </a:p>
        </p:txBody>
      </p:sp>
      <p:sp>
        <p:nvSpPr>
          <p:cNvPr id="12" name="Text 9"/>
          <p:cNvSpPr/>
          <p:nvPr/>
        </p:nvSpPr>
        <p:spPr>
          <a:xfrm>
            <a:off x="676989" y="8682038"/>
            <a:ext cx="4110990" cy="470535"/>
          </a:xfrm>
          <a:prstGeom prst="rect">
            <a:avLst/>
          </a:prstGeom>
          <a:noFill/>
          <a:ln/>
        </p:spPr>
        <p:txBody>
          <a:bodyPr wrap="square" lIns="0" tIns="0" rIns="0" bIns="0" rtlCol="0" anchor="t"/>
          <a:lstStyle/>
          <a:p>
            <a:pPr algn="l" indent="0" marL="0">
              <a:lnSpc>
                <a:spcPts val="1850"/>
              </a:lnSpc>
              <a:buNone/>
            </a:pPr>
            <a:r>
              <a:rPr lang="en-US" sz="1150" dirty="0">
                <a:solidFill>
                  <a:srgbClr val="E5DCE6"/>
                </a:solidFill>
                <a:latin typeface="Montserrat" pitchFamily="34" charset="0"/>
                <a:ea typeface="Montserrat" pitchFamily="34" charset="-122"/>
                <a:cs typeface="Montserrat" pitchFamily="34" charset="-120"/>
              </a:rPr>
              <a:t>Multi-field form with real-time validation ensuring data integrity from the start</a:t>
            </a:r>
            <a:endParaRPr lang="en-US" sz="1150" dirty="0"/>
          </a:p>
        </p:txBody>
      </p:sp>
      <p:sp>
        <p:nvSpPr>
          <p:cNvPr id="13" name="Shape 10"/>
          <p:cNvSpPr/>
          <p:nvPr/>
        </p:nvSpPr>
        <p:spPr>
          <a:xfrm>
            <a:off x="5097304" y="8201739"/>
            <a:ext cx="4435673" cy="1113115"/>
          </a:xfrm>
          <a:prstGeom prst="roundRect">
            <a:avLst>
              <a:gd name="adj" fmla="val 5549"/>
            </a:avLst>
          </a:prstGeom>
          <a:solidFill>
            <a:srgbClr val="090E3F"/>
          </a:solidFill>
          <a:ln w="15240">
            <a:solidFill>
              <a:srgbClr val="414677"/>
            </a:solidFill>
            <a:prstDash val="solid"/>
          </a:ln>
        </p:spPr>
      </p:sp>
      <p:sp>
        <p:nvSpPr>
          <p:cNvPr id="14" name="Text 11"/>
          <p:cNvSpPr/>
          <p:nvPr/>
        </p:nvSpPr>
        <p:spPr>
          <a:xfrm>
            <a:off x="5259586" y="8364022"/>
            <a:ext cx="1838206" cy="229791"/>
          </a:xfrm>
          <a:prstGeom prst="rect">
            <a:avLst/>
          </a:prstGeom>
          <a:noFill/>
          <a:ln/>
        </p:spPr>
        <p:txBody>
          <a:bodyPr wrap="none" lIns="0" tIns="0" rIns="0" bIns="0" rtlCol="0" anchor="t"/>
          <a:lstStyle/>
          <a:p>
            <a:pPr algn="l" indent="0" marL="0">
              <a:lnSpc>
                <a:spcPts val="1800"/>
              </a:lnSpc>
              <a:buNone/>
            </a:pPr>
            <a:r>
              <a:rPr lang="en-US" sz="1400" b="1" dirty="0">
                <a:solidFill>
                  <a:srgbClr val="E5DCE6"/>
                </a:solidFill>
                <a:latin typeface="Bricolage Grotesque Extra Bold" pitchFamily="34" charset="0"/>
                <a:ea typeface="Bricolage Grotesque Extra Bold" pitchFamily="34" charset="-122"/>
                <a:cs typeface="Bricolage Grotesque Extra Bold" pitchFamily="34" charset="-120"/>
              </a:rPr>
              <a:t>Input Validation</a:t>
            </a:r>
            <a:endParaRPr lang="en-US" sz="1400" dirty="0"/>
          </a:p>
        </p:txBody>
      </p:sp>
      <p:sp>
        <p:nvSpPr>
          <p:cNvPr id="15" name="Text 12"/>
          <p:cNvSpPr/>
          <p:nvPr/>
        </p:nvSpPr>
        <p:spPr>
          <a:xfrm>
            <a:off x="5259586" y="8682038"/>
            <a:ext cx="4111109" cy="470535"/>
          </a:xfrm>
          <a:prstGeom prst="rect">
            <a:avLst/>
          </a:prstGeom>
          <a:noFill/>
          <a:ln/>
        </p:spPr>
        <p:txBody>
          <a:bodyPr wrap="square" lIns="0" tIns="0" rIns="0" bIns="0" rtlCol="0" anchor="t"/>
          <a:lstStyle/>
          <a:p>
            <a:pPr algn="l" indent="0" marL="0">
              <a:lnSpc>
                <a:spcPts val="1850"/>
              </a:lnSpc>
              <a:buNone/>
            </a:pPr>
            <a:r>
              <a:rPr lang="en-US" sz="1150" dirty="0">
                <a:solidFill>
                  <a:srgbClr val="E5DCE6"/>
                </a:solidFill>
                <a:latin typeface="Montserrat" pitchFamily="34" charset="0"/>
                <a:ea typeface="Montserrat" pitchFamily="34" charset="-122"/>
                <a:cs typeface="Montserrat" pitchFamily="34" charset="-120"/>
              </a:rPr>
              <a:t>Client-side checks for email format, password strength, and required fields</a:t>
            </a:r>
            <a:endParaRPr lang="en-US" sz="1150" dirty="0"/>
          </a:p>
        </p:txBody>
      </p:sp>
      <p:sp>
        <p:nvSpPr>
          <p:cNvPr id="16" name="Shape 13"/>
          <p:cNvSpPr/>
          <p:nvPr/>
        </p:nvSpPr>
        <p:spPr>
          <a:xfrm>
            <a:off x="9680019" y="8201739"/>
            <a:ext cx="4435554" cy="1113115"/>
          </a:xfrm>
          <a:prstGeom prst="roundRect">
            <a:avLst>
              <a:gd name="adj" fmla="val 5549"/>
            </a:avLst>
          </a:prstGeom>
          <a:solidFill>
            <a:srgbClr val="090E3F"/>
          </a:solidFill>
          <a:ln w="15240">
            <a:solidFill>
              <a:srgbClr val="414677"/>
            </a:solidFill>
            <a:prstDash val="solid"/>
          </a:ln>
        </p:spPr>
      </p:sp>
      <p:sp>
        <p:nvSpPr>
          <p:cNvPr id="17" name="Text 14"/>
          <p:cNvSpPr/>
          <p:nvPr/>
        </p:nvSpPr>
        <p:spPr>
          <a:xfrm>
            <a:off x="9842302" y="8364022"/>
            <a:ext cx="1838206" cy="229791"/>
          </a:xfrm>
          <a:prstGeom prst="rect">
            <a:avLst/>
          </a:prstGeom>
          <a:noFill/>
          <a:ln/>
        </p:spPr>
        <p:txBody>
          <a:bodyPr wrap="none" lIns="0" tIns="0" rIns="0" bIns="0" rtlCol="0" anchor="t"/>
          <a:lstStyle/>
          <a:p>
            <a:pPr algn="l" indent="0" marL="0">
              <a:lnSpc>
                <a:spcPts val="1800"/>
              </a:lnSpc>
              <a:buNone/>
            </a:pPr>
            <a:r>
              <a:rPr lang="en-US" sz="1400" b="1" dirty="0">
                <a:solidFill>
                  <a:srgbClr val="E5DCE6"/>
                </a:solidFill>
                <a:latin typeface="Bricolage Grotesque Extra Bold" pitchFamily="34" charset="0"/>
                <a:ea typeface="Bricolage Grotesque Extra Bold" pitchFamily="34" charset="-122"/>
                <a:cs typeface="Bricolage Grotesque Extra Bold" pitchFamily="34" charset="-120"/>
              </a:rPr>
              <a:t>Error Handling</a:t>
            </a:r>
            <a:endParaRPr lang="en-US" sz="1400" dirty="0"/>
          </a:p>
        </p:txBody>
      </p:sp>
      <p:sp>
        <p:nvSpPr>
          <p:cNvPr id="18" name="Text 15"/>
          <p:cNvSpPr/>
          <p:nvPr/>
        </p:nvSpPr>
        <p:spPr>
          <a:xfrm>
            <a:off x="9842302" y="8682038"/>
            <a:ext cx="4110990" cy="470535"/>
          </a:xfrm>
          <a:prstGeom prst="rect">
            <a:avLst/>
          </a:prstGeom>
          <a:noFill/>
          <a:ln/>
        </p:spPr>
        <p:txBody>
          <a:bodyPr wrap="square" lIns="0" tIns="0" rIns="0" bIns="0" rtlCol="0" anchor="t"/>
          <a:lstStyle/>
          <a:p>
            <a:pPr algn="l" indent="0" marL="0">
              <a:lnSpc>
                <a:spcPts val="1850"/>
              </a:lnSpc>
              <a:buNone/>
            </a:pPr>
            <a:r>
              <a:rPr lang="en-US" sz="1150" dirty="0">
                <a:solidFill>
                  <a:srgbClr val="E5DCE6"/>
                </a:solidFill>
                <a:latin typeface="Montserrat" pitchFamily="34" charset="0"/>
                <a:ea typeface="Montserrat" pitchFamily="34" charset="-122"/>
                <a:cs typeface="Montserrat" pitchFamily="34" charset="-120"/>
              </a:rPr>
              <a:t>Clear, helpful error messages guiding users to successful account creation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5953244" y="473035"/>
            <a:ext cx="5388412" cy="416838"/>
          </a:xfrm>
          <a:prstGeom prst="rect">
            <a:avLst/>
          </a:prstGeom>
          <a:noFill/>
          <a:ln/>
        </p:spPr>
        <p:txBody>
          <a:bodyPr wrap="none" lIns="0" tIns="0" rIns="0" bIns="0" rtlCol="0" anchor="t"/>
          <a:lstStyle/>
          <a:p>
            <a:pPr algn="l" indent="0" marL="0">
              <a:lnSpc>
                <a:spcPts val="3250"/>
              </a:lnSpc>
              <a:buNone/>
            </a:pPr>
            <a:r>
              <a:rPr lang="en-US" sz="2600" b="1" dirty="0">
                <a:solidFill>
                  <a:srgbClr val="EEAEF6"/>
                </a:solidFill>
                <a:latin typeface="Bricolage Grotesque Extra Bold" pitchFamily="34" charset="0"/>
                <a:ea typeface="Bricolage Grotesque Extra Bold" pitchFamily="34" charset="-122"/>
                <a:cs typeface="Bricolage Grotesque Extra Bold" pitchFamily="34" charset="-120"/>
              </a:rPr>
              <a:t>Frontend Structure &amp; Navigation</a:t>
            </a:r>
            <a:endParaRPr lang="en-US" sz="2600" dirty="0"/>
          </a:p>
        </p:txBody>
      </p:sp>
      <p:sp>
        <p:nvSpPr>
          <p:cNvPr id="4" name="Text 1"/>
          <p:cNvSpPr/>
          <p:nvPr/>
        </p:nvSpPr>
        <p:spPr>
          <a:xfrm>
            <a:off x="5953244" y="1089898"/>
            <a:ext cx="8210312" cy="426720"/>
          </a:xfrm>
          <a:prstGeom prst="rect">
            <a:avLst/>
          </a:prstGeom>
          <a:noFill/>
          <a:ln/>
        </p:spPr>
        <p:txBody>
          <a:bodyPr wrap="squar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We built a robust frontend architecture using core web technologies, creating a responsive foundation that adapts seamlessly across devices and screen sizes.</a:t>
            </a:r>
            <a:endParaRPr lang="en-US" sz="10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53244" y="1666637"/>
            <a:ext cx="333375" cy="333375"/>
          </a:xfrm>
          <a:prstGeom prst="rect">
            <a:avLst/>
          </a:prstGeom>
        </p:spPr>
      </p:pic>
      <p:sp>
        <p:nvSpPr>
          <p:cNvPr id="6" name="Text 2"/>
          <p:cNvSpPr/>
          <p:nvPr/>
        </p:nvSpPr>
        <p:spPr>
          <a:xfrm>
            <a:off x="5953244" y="2166699"/>
            <a:ext cx="1667351" cy="208359"/>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HTML Structure</a:t>
            </a:r>
            <a:endParaRPr lang="en-US" sz="1300" dirty="0"/>
          </a:p>
        </p:txBody>
      </p:sp>
      <p:sp>
        <p:nvSpPr>
          <p:cNvPr id="7" name="Text 3"/>
          <p:cNvSpPr/>
          <p:nvPr/>
        </p:nvSpPr>
        <p:spPr>
          <a:xfrm>
            <a:off x="5953244" y="2455069"/>
            <a:ext cx="8210312" cy="213360"/>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Semantic markup providing accessibility and SEO benefits while maintaining clean, maintainable code</a:t>
            </a:r>
            <a:endParaRPr lang="en-US" sz="10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53244" y="2935129"/>
            <a:ext cx="333375" cy="333375"/>
          </a:xfrm>
          <a:prstGeom prst="rect">
            <a:avLst/>
          </a:prstGeom>
        </p:spPr>
      </p:pic>
      <p:sp>
        <p:nvSpPr>
          <p:cNvPr id="9" name="Text 4"/>
          <p:cNvSpPr/>
          <p:nvPr/>
        </p:nvSpPr>
        <p:spPr>
          <a:xfrm>
            <a:off x="5953244" y="3435191"/>
            <a:ext cx="1667351" cy="208359"/>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CSS Styling</a:t>
            </a:r>
            <a:endParaRPr lang="en-US" sz="1300" dirty="0"/>
          </a:p>
        </p:txBody>
      </p:sp>
      <p:sp>
        <p:nvSpPr>
          <p:cNvPr id="10" name="Text 5"/>
          <p:cNvSpPr/>
          <p:nvPr/>
        </p:nvSpPr>
        <p:spPr>
          <a:xfrm>
            <a:off x="5953244" y="3723561"/>
            <a:ext cx="8210312" cy="213360"/>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Custom stylesheets with responsive design principles ensuring consistent appearance across all viewports</a:t>
            </a:r>
            <a:endParaRPr lang="en-US" sz="10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53244" y="4203621"/>
            <a:ext cx="333375" cy="333375"/>
          </a:xfrm>
          <a:prstGeom prst="rect">
            <a:avLst/>
          </a:prstGeom>
        </p:spPr>
      </p:pic>
      <p:sp>
        <p:nvSpPr>
          <p:cNvPr id="12" name="Text 6"/>
          <p:cNvSpPr/>
          <p:nvPr/>
        </p:nvSpPr>
        <p:spPr>
          <a:xfrm>
            <a:off x="5953244" y="4703683"/>
            <a:ext cx="1985843" cy="208359"/>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JavaScript Functionality</a:t>
            </a:r>
            <a:endParaRPr lang="en-US" sz="1300" dirty="0"/>
          </a:p>
        </p:txBody>
      </p:sp>
      <p:sp>
        <p:nvSpPr>
          <p:cNvPr id="13" name="Text 7"/>
          <p:cNvSpPr/>
          <p:nvPr/>
        </p:nvSpPr>
        <p:spPr>
          <a:xfrm>
            <a:off x="5953244" y="4992053"/>
            <a:ext cx="8210312" cy="213360"/>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Dynamic interactions and client-side logic powering smooth user experiences and real-time updates</a:t>
            </a:r>
            <a:endParaRPr lang="en-US" sz="1050" dirty="0"/>
          </a:p>
        </p:txBody>
      </p:sp>
      <p:pic>
        <p:nvPicPr>
          <p:cNvPr id="14" name="Image 4" descr="preencoded.png">    </p:cNvPr>
          <p:cNvPicPr>
            <a:picLocks noChangeAspect="1"/>
          </p:cNvPicPr>
          <p:nvPr/>
        </p:nvPicPr>
        <p:blipFill>
          <a:blip r:embed="rId8"/>
          <a:stretch>
            <a:fillRect/>
          </a:stretch>
        </p:blipFill>
        <p:spPr>
          <a:xfrm>
            <a:off x="5953244" y="5355431"/>
            <a:ext cx="666869" cy="800338"/>
          </a:xfrm>
          <a:prstGeom prst="rect">
            <a:avLst/>
          </a:prstGeom>
        </p:spPr>
      </p:pic>
      <p:sp>
        <p:nvSpPr>
          <p:cNvPr id="15" name="Text 8"/>
          <p:cNvSpPr/>
          <p:nvPr/>
        </p:nvSpPr>
        <p:spPr>
          <a:xfrm>
            <a:off x="6753463" y="5488781"/>
            <a:ext cx="1667351" cy="208359"/>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Sidebar Navigation</a:t>
            </a:r>
            <a:endParaRPr lang="en-US" sz="1300" dirty="0"/>
          </a:p>
        </p:txBody>
      </p:sp>
      <p:sp>
        <p:nvSpPr>
          <p:cNvPr id="16" name="Text 9"/>
          <p:cNvSpPr/>
          <p:nvPr/>
        </p:nvSpPr>
        <p:spPr>
          <a:xfrm>
            <a:off x="6753463" y="5777151"/>
            <a:ext cx="7410093" cy="213360"/>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Persistent menu for quick access to all major sections</a:t>
            </a:r>
            <a:endParaRPr lang="en-US" sz="1050" dirty="0"/>
          </a:p>
        </p:txBody>
      </p:sp>
      <p:pic>
        <p:nvPicPr>
          <p:cNvPr id="17" name="Image 5" descr="preencoded.png">    </p:cNvPr>
          <p:cNvPicPr>
            <a:picLocks noChangeAspect="1"/>
          </p:cNvPicPr>
          <p:nvPr/>
        </p:nvPicPr>
        <p:blipFill>
          <a:blip r:embed="rId9"/>
          <a:stretch>
            <a:fillRect/>
          </a:stretch>
        </p:blipFill>
        <p:spPr>
          <a:xfrm>
            <a:off x="5953244" y="6155769"/>
            <a:ext cx="666869" cy="800338"/>
          </a:xfrm>
          <a:prstGeom prst="rect">
            <a:avLst/>
          </a:prstGeom>
        </p:spPr>
      </p:pic>
      <p:sp>
        <p:nvSpPr>
          <p:cNvPr id="18" name="Text 10"/>
          <p:cNvSpPr/>
          <p:nvPr/>
        </p:nvSpPr>
        <p:spPr>
          <a:xfrm>
            <a:off x="6753463" y="6289119"/>
            <a:ext cx="1667351" cy="208359"/>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Page Routing</a:t>
            </a:r>
            <a:endParaRPr lang="en-US" sz="1300" dirty="0"/>
          </a:p>
        </p:txBody>
      </p:sp>
      <p:sp>
        <p:nvSpPr>
          <p:cNvPr id="19" name="Text 11"/>
          <p:cNvSpPr/>
          <p:nvPr/>
        </p:nvSpPr>
        <p:spPr>
          <a:xfrm>
            <a:off x="6753463" y="6577489"/>
            <a:ext cx="7410093" cy="213360"/>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Seamless transitions between dashboard components</a:t>
            </a:r>
            <a:endParaRPr lang="en-US" sz="1050" dirty="0"/>
          </a:p>
        </p:txBody>
      </p:sp>
      <p:pic>
        <p:nvPicPr>
          <p:cNvPr id="20" name="Image 6" descr="preencoded.png">    </p:cNvPr>
          <p:cNvPicPr>
            <a:picLocks noChangeAspect="1"/>
          </p:cNvPicPr>
          <p:nvPr/>
        </p:nvPicPr>
        <p:blipFill>
          <a:blip r:embed="rId10"/>
          <a:stretch>
            <a:fillRect/>
          </a:stretch>
        </p:blipFill>
        <p:spPr>
          <a:xfrm>
            <a:off x="5953244" y="6956108"/>
            <a:ext cx="666869" cy="800338"/>
          </a:xfrm>
          <a:prstGeom prst="rect">
            <a:avLst/>
          </a:prstGeom>
        </p:spPr>
      </p:pic>
      <p:sp>
        <p:nvSpPr>
          <p:cNvPr id="21" name="Text 12"/>
          <p:cNvSpPr/>
          <p:nvPr/>
        </p:nvSpPr>
        <p:spPr>
          <a:xfrm>
            <a:off x="6753463" y="7089458"/>
            <a:ext cx="1667351" cy="208359"/>
          </a:xfrm>
          <a:prstGeom prst="rect">
            <a:avLst/>
          </a:prstGeom>
          <a:noFill/>
          <a:ln/>
        </p:spPr>
        <p:txBody>
          <a:bodyPr wrap="none" lIns="0" tIns="0" rIns="0" bIns="0" rtlCol="0" anchor="t"/>
          <a:lstStyle/>
          <a:p>
            <a:pPr algn="l" indent="0" marL="0">
              <a:lnSpc>
                <a:spcPts val="1600"/>
              </a:lnSpc>
              <a:buNone/>
            </a:pPr>
            <a:r>
              <a:rPr lang="en-US" sz="1300" b="1" dirty="0">
                <a:solidFill>
                  <a:srgbClr val="E5DCE6"/>
                </a:solidFill>
                <a:latin typeface="Bricolage Grotesque Extra Bold" pitchFamily="34" charset="0"/>
                <a:ea typeface="Bricolage Grotesque Extra Bold" pitchFamily="34" charset="-122"/>
                <a:cs typeface="Bricolage Grotesque Extra Bold" pitchFamily="34" charset="-120"/>
              </a:rPr>
              <a:t>Responsive Layout</a:t>
            </a:r>
            <a:endParaRPr lang="en-US" sz="1300" dirty="0"/>
          </a:p>
        </p:txBody>
      </p:sp>
      <p:sp>
        <p:nvSpPr>
          <p:cNvPr id="22" name="Text 13"/>
          <p:cNvSpPr/>
          <p:nvPr/>
        </p:nvSpPr>
        <p:spPr>
          <a:xfrm>
            <a:off x="6753463" y="7377827"/>
            <a:ext cx="7410093" cy="213360"/>
          </a:xfrm>
          <a:prstGeom prst="rect">
            <a:avLst/>
          </a:prstGeom>
          <a:noFill/>
          <a:ln/>
        </p:spPr>
        <p:txBody>
          <a:bodyPr wrap="none" lIns="0" tIns="0" rIns="0" bIns="0" rtlCol="0" anchor="t"/>
          <a:lstStyle/>
          <a:p>
            <a:pPr algn="l" indent="0" marL="0">
              <a:lnSpc>
                <a:spcPts val="1650"/>
              </a:lnSpc>
              <a:buNone/>
            </a:pPr>
            <a:r>
              <a:rPr lang="en-US" sz="1050" dirty="0">
                <a:solidFill>
                  <a:srgbClr val="E5DCE6"/>
                </a:solidFill>
                <a:latin typeface="Montserrat" pitchFamily="34" charset="0"/>
                <a:ea typeface="Montserrat" pitchFamily="34" charset="-122"/>
                <a:cs typeface="Montserrat" pitchFamily="34" charset="-120"/>
              </a:rPr>
              <a:t>Mobile-first design adapting to any screen size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3509" y="356354"/>
            <a:ext cx="4986695" cy="404932"/>
          </a:xfrm>
          <a:prstGeom prst="rect">
            <a:avLst/>
          </a:prstGeom>
          <a:noFill/>
          <a:ln/>
        </p:spPr>
        <p:txBody>
          <a:bodyPr wrap="none" lIns="0" tIns="0" rIns="0" bIns="0" rtlCol="0" anchor="t"/>
          <a:lstStyle/>
          <a:p>
            <a:pPr algn="l" indent="0" marL="0">
              <a:lnSpc>
                <a:spcPts val="3150"/>
              </a:lnSpc>
              <a:buNone/>
            </a:pPr>
            <a:r>
              <a:rPr lang="en-US" sz="2550" b="1" dirty="0">
                <a:solidFill>
                  <a:srgbClr val="EEAEF6"/>
                </a:solidFill>
                <a:latin typeface="Bricolage Grotesque Extra Bold" pitchFamily="34" charset="0"/>
                <a:ea typeface="Bricolage Grotesque Extra Bold" pitchFamily="34" charset="-122"/>
                <a:cs typeface="Bricolage Grotesque Extra Bold" pitchFamily="34" charset="-120"/>
              </a:rPr>
              <a:t>AQI Parameters &amp; Feature Flow</a:t>
            </a:r>
            <a:endParaRPr lang="en-US" sz="2550" dirty="0"/>
          </a:p>
        </p:txBody>
      </p:sp>
      <p:pic>
        <p:nvPicPr>
          <p:cNvPr id="3" name="Image 0" descr="preencoded.png">    </p:cNvPr>
          <p:cNvPicPr>
            <a:picLocks noChangeAspect="1"/>
          </p:cNvPicPr>
          <p:nvPr/>
        </p:nvPicPr>
        <p:blipFill>
          <a:blip r:embed="rId1"/>
          <a:stretch>
            <a:fillRect/>
          </a:stretch>
        </p:blipFill>
        <p:spPr>
          <a:xfrm>
            <a:off x="453509" y="1101328"/>
            <a:ext cx="6001703" cy="6001703"/>
          </a:xfrm>
          <a:prstGeom prst="rect">
            <a:avLst/>
          </a:prstGeom>
        </p:spPr>
      </p:pic>
      <p:sp>
        <p:nvSpPr>
          <p:cNvPr id="4" name="Text 1"/>
          <p:cNvSpPr/>
          <p:nvPr/>
        </p:nvSpPr>
        <p:spPr>
          <a:xfrm>
            <a:off x="6778823" y="1072158"/>
            <a:ext cx="7405568" cy="414338"/>
          </a:xfrm>
          <a:prstGeom prst="rect">
            <a:avLst/>
          </a:prstGeom>
          <a:noFill/>
          <a:ln/>
        </p:spPr>
        <p:txBody>
          <a:bodyPr wrap="square" lIns="0" tIns="0" rIns="0" bIns="0" rtlCol="0" anchor="t"/>
          <a:lstStyle/>
          <a:p>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We identified the essential Air Quality Index parameters that will drive our monitoring system and defined how data flows from collection to visualization.</a:t>
            </a:r>
            <a:endParaRPr lang="en-US" sz="1000" dirty="0"/>
          </a:p>
        </p:txBody>
      </p:sp>
      <p:sp>
        <p:nvSpPr>
          <p:cNvPr id="5" name="Text 2"/>
          <p:cNvSpPr/>
          <p:nvPr/>
        </p:nvSpPr>
        <p:spPr>
          <a:xfrm>
            <a:off x="6778823" y="1616035"/>
            <a:ext cx="1619726" cy="202406"/>
          </a:xfrm>
          <a:prstGeom prst="rect">
            <a:avLst/>
          </a:prstGeom>
          <a:noFill/>
          <a:ln/>
        </p:spPr>
        <p:txBody>
          <a:bodyPr wrap="none" lIns="0" tIns="0" rIns="0" bIns="0" rtlCol="0" anchor="t"/>
          <a:lstStyle/>
          <a:p>
            <a:pPr algn="l" indent="0" marL="0">
              <a:lnSpc>
                <a:spcPts val="1550"/>
              </a:lnSpc>
              <a:buNone/>
            </a:pPr>
            <a:r>
              <a:rPr lang="en-US" sz="1250" b="1" dirty="0">
                <a:solidFill>
                  <a:srgbClr val="EEAEF6"/>
                </a:solidFill>
                <a:latin typeface="Bricolage Grotesque Extra Bold" pitchFamily="34" charset="0"/>
                <a:ea typeface="Bricolage Grotesque Extra Bold" pitchFamily="34" charset="-122"/>
                <a:cs typeface="Bricolage Grotesque Extra Bold" pitchFamily="34" charset="-120"/>
              </a:rPr>
              <a:t>Core AQI Metrics</a:t>
            </a:r>
            <a:endParaRPr lang="en-US" sz="1250" dirty="0"/>
          </a:p>
        </p:txBody>
      </p:sp>
      <p:sp>
        <p:nvSpPr>
          <p:cNvPr id="6" name="Text 3"/>
          <p:cNvSpPr/>
          <p:nvPr/>
        </p:nvSpPr>
        <p:spPr>
          <a:xfrm>
            <a:off x="6778823" y="1947982"/>
            <a:ext cx="7405568" cy="20716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E5DCE6"/>
                </a:solidFill>
                <a:latin typeface="Montserrat" pitchFamily="34" charset="0"/>
                <a:ea typeface="Montserrat" pitchFamily="34" charset="-122"/>
                <a:cs typeface="Montserrat" pitchFamily="34" charset="-120"/>
              </a:rPr>
              <a:t>PM2.5 and PM10 particulate matter levels</a:t>
            </a:r>
            <a:endParaRPr lang="en-US" sz="1000" dirty="0"/>
          </a:p>
        </p:txBody>
      </p:sp>
      <p:sp>
        <p:nvSpPr>
          <p:cNvPr id="7" name="Text 4"/>
          <p:cNvSpPr/>
          <p:nvPr/>
        </p:nvSpPr>
        <p:spPr>
          <a:xfrm>
            <a:off x="6778823" y="2200394"/>
            <a:ext cx="7405568" cy="20716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E5DCE6"/>
                </a:solidFill>
                <a:latin typeface="Montserrat" pitchFamily="34" charset="0"/>
                <a:ea typeface="Montserrat" pitchFamily="34" charset="-122"/>
                <a:cs typeface="Montserrat" pitchFamily="34" charset="-120"/>
              </a:rPr>
              <a:t>Carbon monoxide (CO) concentrations</a:t>
            </a:r>
            <a:endParaRPr lang="en-US" sz="1000" dirty="0"/>
          </a:p>
        </p:txBody>
      </p:sp>
      <p:sp>
        <p:nvSpPr>
          <p:cNvPr id="8" name="Text 5"/>
          <p:cNvSpPr/>
          <p:nvPr/>
        </p:nvSpPr>
        <p:spPr>
          <a:xfrm>
            <a:off x="6778823" y="2452807"/>
            <a:ext cx="7405568" cy="20716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E5DCE6"/>
                </a:solidFill>
                <a:latin typeface="Montserrat" pitchFamily="34" charset="0"/>
                <a:ea typeface="Montserrat" pitchFamily="34" charset="-122"/>
                <a:cs typeface="Montserrat" pitchFamily="34" charset="-120"/>
              </a:rPr>
              <a:t>Nitrogen dioxide (NO₂) and ozone (O₃) measurements</a:t>
            </a:r>
            <a:endParaRPr lang="en-US" sz="1000" dirty="0"/>
          </a:p>
        </p:txBody>
      </p:sp>
      <p:sp>
        <p:nvSpPr>
          <p:cNvPr id="9" name="Text 6"/>
          <p:cNvSpPr/>
          <p:nvPr/>
        </p:nvSpPr>
        <p:spPr>
          <a:xfrm>
            <a:off x="6778823" y="2705219"/>
            <a:ext cx="7405568" cy="207169"/>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E5DCE6"/>
                </a:solidFill>
                <a:latin typeface="Montserrat" pitchFamily="34" charset="0"/>
                <a:ea typeface="Montserrat" pitchFamily="34" charset="-122"/>
                <a:cs typeface="Montserrat" pitchFamily="34" charset="-120"/>
              </a:rPr>
              <a:t>Overall AQI score with health recommendations</a:t>
            </a:r>
            <a:endParaRPr lang="en-US" sz="1000" dirty="0"/>
          </a:p>
        </p:txBody>
      </p:sp>
      <p:pic>
        <p:nvPicPr>
          <p:cNvPr id="10" name="Image 1" descr="preencoded.png">    </p:cNvPr>
          <p:cNvPicPr>
            <a:picLocks noChangeAspect="1"/>
          </p:cNvPicPr>
          <p:nvPr/>
        </p:nvPicPr>
        <p:blipFill>
          <a:blip r:embed="rId2"/>
          <a:stretch>
            <a:fillRect/>
          </a:stretch>
        </p:blipFill>
        <p:spPr>
          <a:xfrm>
            <a:off x="453509" y="7783235"/>
            <a:ext cx="4488061" cy="1143000"/>
          </a:xfrm>
          <a:prstGeom prst="rect">
            <a:avLst/>
          </a:prstGeom>
        </p:spPr>
      </p:pic>
      <p:sp>
        <p:nvSpPr>
          <p:cNvPr id="11" name="Text 7"/>
          <p:cNvSpPr/>
          <p:nvPr/>
        </p:nvSpPr>
        <p:spPr>
          <a:xfrm>
            <a:off x="583049" y="8301514"/>
            <a:ext cx="1619726" cy="202406"/>
          </a:xfrm>
          <a:prstGeom prst="rect">
            <a:avLst/>
          </a:prstGeom>
          <a:noFill/>
          <a:ln/>
        </p:spPr>
        <p:txBody>
          <a:bodyPr wrap="none" lIns="0" tIns="0" rIns="0" bIns="0" rtlCol="0" anchor="t"/>
          <a:lstStyle/>
          <a:p>
            <a:pPr algn="l" indent="0" marL="0">
              <a:lnSpc>
                <a:spcPts val="1550"/>
              </a:lnSpc>
              <a:buNone/>
            </a:pPr>
            <a:r>
              <a:rPr lang="en-US" sz="1250" b="1" dirty="0">
                <a:solidFill>
                  <a:srgbClr val="E5DCE6"/>
                </a:solidFill>
                <a:latin typeface="Bricolage Grotesque Extra Bold" pitchFamily="34" charset="0"/>
                <a:ea typeface="Bricolage Grotesque Extra Bold" pitchFamily="34" charset="-122"/>
                <a:cs typeface="Bricolage Grotesque Extra Bold" pitchFamily="34" charset="-120"/>
              </a:rPr>
              <a:t>Data Input Layer</a:t>
            </a:r>
            <a:endParaRPr lang="en-US" sz="1250" dirty="0"/>
          </a:p>
        </p:txBody>
      </p:sp>
      <p:sp>
        <p:nvSpPr>
          <p:cNvPr id="12" name="Text 8"/>
          <p:cNvSpPr/>
          <p:nvPr/>
        </p:nvSpPr>
        <p:spPr>
          <a:xfrm>
            <a:off x="583049" y="8581668"/>
            <a:ext cx="4228981" cy="414338"/>
          </a:xfrm>
          <a:prstGeom prst="rect">
            <a:avLst/>
          </a:prstGeom>
          <a:noFill/>
          <a:ln/>
        </p:spPr>
        <p:txBody>
          <a:bodyPr wrap="square" lIns="0" tIns="0" rIns="0" bIns="0" rtlCol="0" anchor="t"/>
          <a:lstStyle/>
          <a:p>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API endpoints prepared for sensor data ingestion and external AQI sources</a:t>
            </a:r>
            <a:endParaRPr lang="en-US" sz="1000" dirty="0"/>
          </a:p>
        </p:txBody>
      </p:sp>
      <p:pic>
        <p:nvPicPr>
          <p:cNvPr id="13" name="Image 2" descr="preencoded.png">    </p:cNvPr>
          <p:cNvPicPr>
            <a:picLocks noChangeAspect="1"/>
          </p:cNvPicPr>
          <p:nvPr/>
        </p:nvPicPr>
        <p:blipFill>
          <a:blip r:embed="rId3"/>
          <a:stretch>
            <a:fillRect/>
          </a:stretch>
        </p:blipFill>
        <p:spPr>
          <a:xfrm>
            <a:off x="5071110" y="7588806"/>
            <a:ext cx="4488061" cy="1143000"/>
          </a:xfrm>
          <a:prstGeom prst="rect">
            <a:avLst/>
          </a:prstGeom>
        </p:spPr>
      </p:pic>
      <p:sp>
        <p:nvSpPr>
          <p:cNvPr id="14" name="Text 9"/>
          <p:cNvSpPr/>
          <p:nvPr/>
        </p:nvSpPr>
        <p:spPr>
          <a:xfrm>
            <a:off x="5200650" y="8107085"/>
            <a:ext cx="1619726" cy="202406"/>
          </a:xfrm>
          <a:prstGeom prst="rect">
            <a:avLst/>
          </a:prstGeom>
          <a:noFill/>
          <a:ln/>
        </p:spPr>
        <p:txBody>
          <a:bodyPr wrap="none" lIns="0" tIns="0" rIns="0" bIns="0" rtlCol="0" anchor="t"/>
          <a:lstStyle/>
          <a:p>
            <a:pPr algn="l" indent="0" marL="0">
              <a:lnSpc>
                <a:spcPts val="1550"/>
              </a:lnSpc>
              <a:buNone/>
            </a:pPr>
            <a:r>
              <a:rPr lang="en-US" sz="1250" b="1" dirty="0">
                <a:solidFill>
                  <a:srgbClr val="E5DCE6"/>
                </a:solidFill>
                <a:latin typeface="Bricolage Grotesque Extra Bold" pitchFamily="34" charset="0"/>
                <a:ea typeface="Bricolage Grotesque Extra Bold" pitchFamily="34" charset="-122"/>
                <a:cs typeface="Bricolage Grotesque Extra Bold" pitchFamily="34" charset="-120"/>
              </a:rPr>
              <a:t>Processing Engine</a:t>
            </a:r>
            <a:endParaRPr lang="en-US" sz="1250" dirty="0"/>
          </a:p>
        </p:txBody>
      </p:sp>
      <p:sp>
        <p:nvSpPr>
          <p:cNvPr id="15" name="Text 10"/>
          <p:cNvSpPr/>
          <p:nvPr/>
        </p:nvSpPr>
        <p:spPr>
          <a:xfrm>
            <a:off x="5200650" y="8387239"/>
            <a:ext cx="4228981" cy="414338"/>
          </a:xfrm>
          <a:prstGeom prst="rect">
            <a:avLst/>
          </a:prstGeom>
          <a:noFill/>
          <a:ln/>
        </p:spPr>
        <p:txBody>
          <a:bodyPr wrap="square" lIns="0" tIns="0" rIns="0" bIns="0" rtlCol="0" anchor="t"/>
          <a:lstStyle/>
          <a:p>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Backend logic planned for real-time data validation and AQI calculation</a:t>
            </a:r>
            <a:endParaRPr lang="en-US" sz="1000" dirty="0"/>
          </a:p>
        </p:txBody>
      </p:sp>
      <p:pic>
        <p:nvPicPr>
          <p:cNvPr id="16" name="Image 3" descr="preencoded.png">    </p:cNvPr>
          <p:cNvPicPr>
            <a:picLocks noChangeAspect="1"/>
          </p:cNvPicPr>
          <p:nvPr/>
        </p:nvPicPr>
        <p:blipFill>
          <a:blip r:embed="rId4"/>
          <a:stretch>
            <a:fillRect/>
          </a:stretch>
        </p:blipFill>
        <p:spPr>
          <a:xfrm>
            <a:off x="9688711" y="7394496"/>
            <a:ext cx="4488061" cy="1143000"/>
          </a:xfrm>
          <a:prstGeom prst="rect">
            <a:avLst/>
          </a:prstGeom>
        </p:spPr>
      </p:pic>
      <p:sp>
        <p:nvSpPr>
          <p:cNvPr id="17" name="Text 11"/>
          <p:cNvSpPr/>
          <p:nvPr/>
        </p:nvSpPr>
        <p:spPr>
          <a:xfrm>
            <a:off x="9818251" y="7912775"/>
            <a:ext cx="1952744" cy="202406"/>
          </a:xfrm>
          <a:prstGeom prst="rect">
            <a:avLst/>
          </a:prstGeom>
          <a:noFill/>
          <a:ln/>
        </p:spPr>
        <p:txBody>
          <a:bodyPr wrap="none" lIns="0" tIns="0" rIns="0" bIns="0" rtlCol="0" anchor="t"/>
          <a:lstStyle/>
          <a:p>
            <a:pPr algn="l" indent="0" marL="0">
              <a:lnSpc>
                <a:spcPts val="1550"/>
              </a:lnSpc>
              <a:buNone/>
            </a:pPr>
            <a:r>
              <a:rPr lang="en-US" sz="1250" b="1" dirty="0">
                <a:solidFill>
                  <a:srgbClr val="E5DCE6"/>
                </a:solidFill>
                <a:latin typeface="Bricolage Grotesque Extra Bold" pitchFamily="34" charset="0"/>
                <a:ea typeface="Bricolage Grotesque Extra Bold" pitchFamily="34" charset="-122"/>
                <a:cs typeface="Bricolage Grotesque Extra Bold" pitchFamily="34" charset="-120"/>
              </a:rPr>
              <a:t>Dashboard Visualization</a:t>
            </a:r>
            <a:endParaRPr lang="en-US" sz="1250" dirty="0"/>
          </a:p>
        </p:txBody>
      </p:sp>
      <p:sp>
        <p:nvSpPr>
          <p:cNvPr id="18" name="Text 12"/>
          <p:cNvSpPr/>
          <p:nvPr/>
        </p:nvSpPr>
        <p:spPr>
          <a:xfrm>
            <a:off x="9818251" y="8192929"/>
            <a:ext cx="4228981" cy="414338"/>
          </a:xfrm>
          <a:prstGeom prst="rect">
            <a:avLst/>
          </a:prstGeom>
          <a:noFill/>
          <a:ln/>
        </p:spPr>
        <p:txBody>
          <a:bodyPr wrap="square" lIns="0" tIns="0" rIns="0" bIns="0" rtlCol="0" anchor="t"/>
          <a:lstStyle/>
          <a:p>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Frontend components ready to display live metrics with color-coded health indicators</a:t>
            </a:r>
            <a:endParaRPr lang="en-US" sz="1000" dirty="0"/>
          </a:p>
        </p:txBody>
      </p:sp>
      <p:sp>
        <p:nvSpPr>
          <p:cNvPr id="19" name="Text 13"/>
          <p:cNvSpPr/>
          <p:nvPr/>
        </p:nvSpPr>
        <p:spPr>
          <a:xfrm>
            <a:off x="453509" y="9271278"/>
            <a:ext cx="13723382" cy="207169"/>
          </a:xfrm>
          <a:prstGeom prst="rect">
            <a:avLst/>
          </a:prstGeom>
          <a:noFill/>
          <a:ln/>
        </p:spPr>
        <p:txBody>
          <a:bodyPr wrap="none" lIns="0" tIns="0" rIns="0" bIns="0" rtlCol="0" anchor="t"/>
          <a:lstStyle/>
          <a:p>
            <a:pPr algn="l" indent="0" marL="0">
              <a:lnSpc>
                <a:spcPts val="1600"/>
              </a:lnSpc>
              <a:buNone/>
            </a:pPr>
            <a:r>
              <a:rPr lang="en-US" sz="1000" dirty="0">
                <a:solidFill>
                  <a:srgbClr val="E5DCE6"/>
                </a:solidFill>
                <a:latin typeface="Montserrat" pitchFamily="34" charset="0"/>
                <a:ea typeface="Montserrat" pitchFamily="34" charset="-122"/>
                <a:cs typeface="Montserrat" pitchFamily="34" charset="-120"/>
              </a:rPr>
              <a:t>This comprehensive feature flow architecture positions us perfectly for seamless backend integration in the next milestone.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047423" y="569833"/>
            <a:ext cx="6876336" cy="500896"/>
          </a:xfrm>
          <a:prstGeom prst="rect">
            <a:avLst/>
          </a:prstGeom>
          <a:noFill/>
          <a:ln/>
        </p:spPr>
        <p:txBody>
          <a:bodyPr wrap="none" lIns="0" tIns="0" rIns="0" bIns="0" rtlCol="0" anchor="t"/>
          <a:lstStyle/>
          <a:p>
            <a:pPr algn="l" indent="0" marL="0">
              <a:lnSpc>
                <a:spcPts val="3900"/>
              </a:lnSpc>
              <a:buNone/>
            </a:pPr>
            <a:r>
              <a:rPr lang="en-US" sz="3150" b="1" dirty="0">
                <a:solidFill>
                  <a:srgbClr val="EEAEF6"/>
                </a:solidFill>
                <a:latin typeface="Bricolage Grotesque Extra Bold" pitchFamily="34" charset="0"/>
                <a:ea typeface="Bricolage Grotesque Extra Bold" pitchFamily="34" charset="-122"/>
                <a:cs typeface="Bricolage Grotesque Extra Bold" pitchFamily="34" charset="-120"/>
              </a:rPr>
              <a:t>Milestone 1: Mission Accomplished</a:t>
            </a:r>
            <a:endParaRPr lang="en-US" sz="3150" dirty="0"/>
          </a:p>
        </p:txBody>
      </p:sp>
      <p:sp>
        <p:nvSpPr>
          <p:cNvPr id="4" name="Text 1"/>
          <p:cNvSpPr/>
          <p:nvPr/>
        </p:nvSpPr>
        <p:spPr>
          <a:xfrm>
            <a:off x="6047423" y="1391245"/>
            <a:ext cx="2540437" cy="528876"/>
          </a:xfrm>
          <a:prstGeom prst="rect">
            <a:avLst/>
          </a:prstGeom>
          <a:noFill/>
          <a:ln/>
        </p:spPr>
        <p:txBody>
          <a:bodyPr wrap="none" lIns="0" tIns="0" rIns="0" bIns="0" rtlCol="0" anchor="t"/>
          <a:lstStyle/>
          <a:p>
            <a:pPr algn="ctr" indent="0" marL="0">
              <a:lnSpc>
                <a:spcPts val="4150"/>
              </a:lnSpc>
              <a:buNone/>
            </a:pPr>
            <a:r>
              <a:rPr lang="en-US" sz="4150" b="1" dirty="0">
                <a:solidFill>
                  <a:srgbClr val="E5DCE6"/>
                </a:solidFill>
                <a:latin typeface="Bricolage Grotesque Extra Bold" pitchFamily="34" charset="0"/>
                <a:ea typeface="Bricolage Grotesque Extra Bold" pitchFamily="34" charset="-122"/>
                <a:cs typeface="Bricolage Grotesque Extra Bold" pitchFamily="34" charset="-120"/>
              </a:rPr>
              <a:t>35%</a:t>
            </a:r>
            <a:endParaRPr lang="en-US" sz="4150" dirty="0"/>
          </a:p>
        </p:txBody>
      </p:sp>
      <p:sp>
        <p:nvSpPr>
          <p:cNvPr id="5" name="Text 2"/>
          <p:cNvSpPr/>
          <p:nvPr/>
        </p:nvSpPr>
        <p:spPr>
          <a:xfrm>
            <a:off x="6315789" y="2120384"/>
            <a:ext cx="2003703" cy="250388"/>
          </a:xfrm>
          <a:prstGeom prst="rect">
            <a:avLst/>
          </a:prstGeom>
          <a:noFill/>
          <a:ln/>
        </p:spPr>
        <p:txBody>
          <a:bodyPr wrap="none" lIns="0" tIns="0" rIns="0" bIns="0" rtlCol="0" anchor="t"/>
          <a:lstStyle/>
          <a:p>
            <a:pPr algn="ctr"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Project Complete</a:t>
            </a:r>
            <a:endParaRPr lang="en-US" sz="1550" dirty="0"/>
          </a:p>
        </p:txBody>
      </p:sp>
      <p:sp>
        <p:nvSpPr>
          <p:cNvPr id="6" name="Text 3"/>
          <p:cNvSpPr/>
          <p:nvPr/>
        </p:nvSpPr>
        <p:spPr>
          <a:xfrm>
            <a:off x="6047423" y="2466856"/>
            <a:ext cx="2540437" cy="256342"/>
          </a:xfrm>
          <a:prstGeom prst="rect">
            <a:avLst/>
          </a:prstGeom>
          <a:noFill/>
          <a:ln/>
        </p:spPr>
        <p:txBody>
          <a:bodyPr wrap="none" lIns="0" tIns="0" rIns="0" bIns="0" rtlCol="0" anchor="t"/>
          <a:lstStyle/>
          <a:p>
            <a:pPr algn="ctr"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Strong foundation established</a:t>
            </a:r>
            <a:endParaRPr lang="en-US" sz="1250" dirty="0"/>
          </a:p>
        </p:txBody>
      </p:sp>
      <p:sp>
        <p:nvSpPr>
          <p:cNvPr id="7" name="Text 4"/>
          <p:cNvSpPr/>
          <p:nvPr/>
        </p:nvSpPr>
        <p:spPr>
          <a:xfrm>
            <a:off x="8788122" y="1391245"/>
            <a:ext cx="2540437" cy="528876"/>
          </a:xfrm>
          <a:prstGeom prst="rect">
            <a:avLst/>
          </a:prstGeom>
          <a:noFill/>
          <a:ln/>
        </p:spPr>
        <p:txBody>
          <a:bodyPr wrap="none" lIns="0" tIns="0" rIns="0" bIns="0" rtlCol="0" anchor="t"/>
          <a:lstStyle/>
          <a:p>
            <a:pPr algn="ctr" indent="0" marL="0">
              <a:lnSpc>
                <a:spcPts val="4150"/>
              </a:lnSpc>
              <a:buNone/>
            </a:pPr>
            <a:r>
              <a:rPr lang="en-US" sz="4150" b="1" dirty="0">
                <a:solidFill>
                  <a:srgbClr val="E5DCE6"/>
                </a:solidFill>
                <a:latin typeface="Bricolage Grotesque Extra Bold" pitchFamily="34" charset="0"/>
                <a:ea typeface="Bricolage Grotesque Extra Bold" pitchFamily="34" charset="-122"/>
                <a:cs typeface="Bricolage Grotesque Extra Bold" pitchFamily="34" charset="-120"/>
              </a:rPr>
              <a:t>100%</a:t>
            </a:r>
            <a:endParaRPr lang="en-US" sz="4150" dirty="0"/>
          </a:p>
        </p:txBody>
      </p:sp>
      <p:sp>
        <p:nvSpPr>
          <p:cNvPr id="8" name="Text 5"/>
          <p:cNvSpPr/>
          <p:nvPr/>
        </p:nvSpPr>
        <p:spPr>
          <a:xfrm>
            <a:off x="9056489" y="2120384"/>
            <a:ext cx="2003703" cy="250388"/>
          </a:xfrm>
          <a:prstGeom prst="rect">
            <a:avLst/>
          </a:prstGeom>
          <a:noFill/>
          <a:ln/>
        </p:spPr>
        <p:txBody>
          <a:bodyPr wrap="none" lIns="0" tIns="0" rIns="0" bIns="0" rtlCol="0" anchor="t"/>
          <a:lstStyle/>
          <a:p>
            <a:pPr algn="ctr"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UI Design Done</a:t>
            </a:r>
            <a:endParaRPr lang="en-US" sz="1550" dirty="0"/>
          </a:p>
        </p:txBody>
      </p:sp>
      <p:sp>
        <p:nvSpPr>
          <p:cNvPr id="9" name="Text 6"/>
          <p:cNvSpPr/>
          <p:nvPr/>
        </p:nvSpPr>
        <p:spPr>
          <a:xfrm>
            <a:off x="8788122" y="2466856"/>
            <a:ext cx="2540437" cy="256342"/>
          </a:xfrm>
          <a:prstGeom prst="rect">
            <a:avLst/>
          </a:prstGeom>
          <a:noFill/>
          <a:ln/>
        </p:spPr>
        <p:txBody>
          <a:bodyPr wrap="none" lIns="0" tIns="0" rIns="0" bIns="0" rtlCol="0" anchor="t"/>
          <a:lstStyle/>
          <a:p>
            <a:pPr algn="ctr"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All wireframes finalized</a:t>
            </a:r>
            <a:endParaRPr lang="en-US" sz="1250" dirty="0"/>
          </a:p>
        </p:txBody>
      </p:sp>
      <p:sp>
        <p:nvSpPr>
          <p:cNvPr id="10" name="Text 7"/>
          <p:cNvSpPr/>
          <p:nvPr/>
        </p:nvSpPr>
        <p:spPr>
          <a:xfrm>
            <a:off x="11528822" y="1391245"/>
            <a:ext cx="2540556" cy="528876"/>
          </a:xfrm>
          <a:prstGeom prst="rect">
            <a:avLst/>
          </a:prstGeom>
          <a:noFill/>
          <a:ln/>
        </p:spPr>
        <p:txBody>
          <a:bodyPr wrap="none" lIns="0" tIns="0" rIns="0" bIns="0" rtlCol="0" anchor="t"/>
          <a:lstStyle/>
          <a:p>
            <a:pPr algn="ctr" indent="0" marL="0">
              <a:lnSpc>
                <a:spcPts val="4150"/>
              </a:lnSpc>
              <a:buNone/>
            </a:pPr>
            <a:r>
              <a:rPr lang="en-US" sz="4150" b="1" dirty="0">
                <a:solidFill>
                  <a:srgbClr val="E5DCE6"/>
                </a:solidFill>
                <a:latin typeface="Bricolage Grotesque Extra Bold" pitchFamily="34" charset="0"/>
                <a:ea typeface="Bricolage Grotesque Extra Bold" pitchFamily="34" charset="-122"/>
                <a:cs typeface="Bricolage Grotesque Extra Bold" pitchFamily="34" charset="-120"/>
              </a:rPr>
              <a:t>5</a:t>
            </a:r>
            <a:endParaRPr lang="en-US" sz="4150" dirty="0"/>
          </a:p>
        </p:txBody>
      </p:sp>
      <p:sp>
        <p:nvSpPr>
          <p:cNvPr id="11" name="Text 8"/>
          <p:cNvSpPr/>
          <p:nvPr/>
        </p:nvSpPr>
        <p:spPr>
          <a:xfrm>
            <a:off x="11797189" y="2120384"/>
            <a:ext cx="2003703" cy="250388"/>
          </a:xfrm>
          <a:prstGeom prst="rect">
            <a:avLst/>
          </a:prstGeom>
          <a:noFill/>
          <a:ln/>
        </p:spPr>
        <p:txBody>
          <a:bodyPr wrap="none" lIns="0" tIns="0" rIns="0" bIns="0" rtlCol="0" anchor="t"/>
          <a:lstStyle/>
          <a:p>
            <a:pPr algn="ctr"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Core Screens</a:t>
            </a:r>
            <a:endParaRPr lang="en-US" sz="1550" dirty="0"/>
          </a:p>
        </p:txBody>
      </p:sp>
      <p:sp>
        <p:nvSpPr>
          <p:cNvPr id="12" name="Text 9"/>
          <p:cNvSpPr/>
          <p:nvPr/>
        </p:nvSpPr>
        <p:spPr>
          <a:xfrm>
            <a:off x="11528822" y="2466856"/>
            <a:ext cx="2540556" cy="256342"/>
          </a:xfrm>
          <a:prstGeom prst="rect">
            <a:avLst/>
          </a:prstGeom>
          <a:noFill/>
          <a:ln/>
        </p:spPr>
        <p:txBody>
          <a:bodyPr wrap="none" lIns="0" tIns="0" rIns="0" bIns="0" rtlCol="0" anchor="t"/>
          <a:lstStyle/>
          <a:p>
            <a:pPr algn="ctr"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Authentication and dashboard</a:t>
            </a:r>
            <a:endParaRPr lang="en-US" sz="1250" dirty="0"/>
          </a:p>
        </p:txBody>
      </p:sp>
      <p:sp>
        <p:nvSpPr>
          <p:cNvPr id="13" name="Text 10"/>
          <p:cNvSpPr/>
          <p:nvPr/>
        </p:nvSpPr>
        <p:spPr>
          <a:xfrm>
            <a:off x="6047423" y="2963585"/>
            <a:ext cx="2404467" cy="300633"/>
          </a:xfrm>
          <a:prstGeom prst="rect">
            <a:avLst/>
          </a:prstGeom>
          <a:noFill/>
          <a:ln/>
        </p:spPr>
        <p:txBody>
          <a:bodyPr wrap="none" lIns="0" tIns="0" rIns="0" bIns="0" rtlCol="0" anchor="t"/>
          <a:lstStyle/>
          <a:p>
            <a:pPr algn="l" indent="0" marL="0">
              <a:lnSpc>
                <a:spcPts val="2350"/>
              </a:lnSpc>
              <a:buNone/>
            </a:pPr>
            <a:r>
              <a:rPr lang="en-US" sz="1850" b="1" dirty="0">
                <a:solidFill>
                  <a:srgbClr val="EEAEF6"/>
                </a:solidFill>
                <a:latin typeface="Bricolage Grotesque Extra Bold" pitchFamily="34" charset="0"/>
                <a:ea typeface="Bricolage Grotesque Extra Bold" pitchFamily="34" charset="-122"/>
                <a:cs typeface="Bricolage Grotesque Extra Bold" pitchFamily="34" charset="-120"/>
              </a:rPr>
              <a:t>Looking Ahead</a:t>
            </a:r>
            <a:endParaRPr lang="en-US" sz="1850" dirty="0"/>
          </a:p>
        </p:txBody>
      </p:sp>
      <p:sp>
        <p:nvSpPr>
          <p:cNvPr id="14" name="Text 11"/>
          <p:cNvSpPr/>
          <p:nvPr/>
        </p:nvSpPr>
        <p:spPr>
          <a:xfrm>
            <a:off x="6047423" y="3504605"/>
            <a:ext cx="8021955" cy="769025"/>
          </a:xfrm>
          <a:prstGeom prst="rect">
            <a:avLst/>
          </a:prstGeom>
          <a:noFill/>
          <a:ln/>
        </p:spPr>
        <p:txBody>
          <a:bodyPr wrap="square" lIns="0" tIns="0" rIns="0" bIns="0" rtlCol="0" anchor="t"/>
          <a:lstStyle/>
          <a:p>
            <a:pPr algn="l" indent="0" marL="0">
              <a:lnSpc>
                <a:spcPts val="2000"/>
              </a:lnSpc>
              <a:buNone/>
            </a:pPr>
            <a:r>
              <a:rPr lang="en-US" sz="1250" dirty="0">
                <a:solidFill>
                  <a:srgbClr val="E5DCE6"/>
                </a:solidFill>
                <a:latin typeface="Montserrat" pitchFamily="34" charset="0"/>
                <a:ea typeface="Montserrat" pitchFamily="34" charset="-122"/>
                <a:cs typeface="Montserrat" pitchFamily="34" charset="-120"/>
              </a:rPr>
              <a:t>With our frontend structure complete and feature flows defined, we're ready to advance into backend integration and real-time AQI data connectivity. The groundwork laid in this milestone ensures a smooth development path forward.</a:t>
            </a:r>
            <a:endParaRPr lang="en-US" sz="1250" dirty="0"/>
          </a:p>
        </p:txBody>
      </p:sp>
      <p:sp>
        <p:nvSpPr>
          <p:cNvPr id="15" name="Shape 12"/>
          <p:cNvSpPr/>
          <p:nvPr/>
        </p:nvSpPr>
        <p:spPr>
          <a:xfrm>
            <a:off x="6047423" y="4453890"/>
            <a:ext cx="641152" cy="961787"/>
          </a:xfrm>
          <a:prstGeom prst="roundRect">
            <a:avLst>
              <a:gd name="adj" fmla="val 360026"/>
            </a:avLst>
          </a:prstGeom>
          <a:solidFill>
            <a:srgbClr val="282D5E"/>
          </a:solidFill>
          <a:ln/>
        </p:spPr>
      </p:sp>
      <p:pic>
        <p:nvPicPr>
          <p:cNvPr id="1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47805" y="4814530"/>
            <a:ext cx="240387" cy="240387"/>
          </a:xfrm>
          <a:prstGeom prst="rect">
            <a:avLst/>
          </a:prstGeom>
        </p:spPr>
      </p:pic>
      <p:sp>
        <p:nvSpPr>
          <p:cNvPr id="17" name="Text 13"/>
          <p:cNvSpPr/>
          <p:nvPr/>
        </p:nvSpPr>
        <p:spPr>
          <a:xfrm>
            <a:off x="6848832" y="4614148"/>
            <a:ext cx="2593419" cy="250388"/>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Next: Backend Integration</a:t>
            </a:r>
            <a:endParaRPr lang="en-US" sz="1550" dirty="0"/>
          </a:p>
        </p:txBody>
      </p:sp>
      <p:sp>
        <p:nvSpPr>
          <p:cNvPr id="18" name="Shape 14"/>
          <p:cNvSpPr/>
          <p:nvPr/>
        </p:nvSpPr>
        <p:spPr>
          <a:xfrm>
            <a:off x="6047423" y="5575935"/>
            <a:ext cx="641152" cy="961787"/>
          </a:xfrm>
          <a:prstGeom prst="roundRect">
            <a:avLst>
              <a:gd name="adj" fmla="val 360026"/>
            </a:avLst>
          </a:prstGeom>
          <a:solidFill>
            <a:srgbClr val="282D5E"/>
          </a:solidFill>
          <a:ln/>
        </p:spPr>
      </p:sp>
      <p:pic>
        <p:nvPicPr>
          <p:cNvPr id="1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47805" y="5936575"/>
            <a:ext cx="240387" cy="240387"/>
          </a:xfrm>
          <a:prstGeom prst="rect">
            <a:avLst/>
          </a:prstGeom>
        </p:spPr>
      </p:pic>
      <p:sp>
        <p:nvSpPr>
          <p:cNvPr id="20" name="Text 15"/>
          <p:cNvSpPr/>
          <p:nvPr/>
        </p:nvSpPr>
        <p:spPr>
          <a:xfrm>
            <a:off x="6848832" y="5736193"/>
            <a:ext cx="2359938" cy="250388"/>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Real-Time Data Streams</a:t>
            </a:r>
            <a:endParaRPr lang="en-US" sz="1550" dirty="0"/>
          </a:p>
        </p:txBody>
      </p:sp>
      <p:sp>
        <p:nvSpPr>
          <p:cNvPr id="21" name="Shape 16"/>
          <p:cNvSpPr/>
          <p:nvPr/>
        </p:nvSpPr>
        <p:spPr>
          <a:xfrm>
            <a:off x="6047423" y="6697980"/>
            <a:ext cx="641152" cy="961787"/>
          </a:xfrm>
          <a:prstGeom prst="roundRect">
            <a:avLst>
              <a:gd name="adj" fmla="val 360026"/>
            </a:avLst>
          </a:prstGeom>
          <a:solidFill>
            <a:srgbClr val="282D5E"/>
          </a:solidFill>
          <a:ln/>
        </p:spPr>
      </p:sp>
      <p:pic>
        <p:nvPicPr>
          <p:cNvPr id="2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47805" y="7058620"/>
            <a:ext cx="240387" cy="240387"/>
          </a:xfrm>
          <a:prstGeom prst="rect">
            <a:avLst/>
          </a:prstGeom>
        </p:spPr>
      </p:pic>
      <p:sp>
        <p:nvSpPr>
          <p:cNvPr id="23" name="Text 17"/>
          <p:cNvSpPr/>
          <p:nvPr/>
        </p:nvSpPr>
        <p:spPr>
          <a:xfrm>
            <a:off x="6848832" y="6858238"/>
            <a:ext cx="2003703" cy="250388"/>
          </a:xfrm>
          <a:prstGeom prst="rect">
            <a:avLst/>
          </a:prstGeom>
          <a:noFill/>
          <a:ln/>
        </p:spPr>
        <p:txBody>
          <a:bodyPr wrap="none" lIns="0" tIns="0" rIns="0" bIns="0" rtlCol="0" anchor="t"/>
          <a:lstStyle/>
          <a:p>
            <a:pPr algn="l" indent="0" marL="0">
              <a:lnSpc>
                <a:spcPts val="1950"/>
              </a:lnSpc>
              <a:buNone/>
            </a:pPr>
            <a:r>
              <a:rPr lang="en-US" sz="1550" b="1" dirty="0">
                <a:solidFill>
                  <a:srgbClr val="E5DCE6"/>
                </a:solidFill>
                <a:latin typeface="Bricolage Grotesque Extra Bold" pitchFamily="34" charset="0"/>
                <a:ea typeface="Bricolage Grotesque Extra Bold" pitchFamily="34" charset="-122"/>
                <a:cs typeface="Bricolage Grotesque Extra Bold" pitchFamily="34" charset="-120"/>
              </a:rPr>
              <a:t>API Development</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2026-01-02T16:15:36Z</dcterms:created>
  <dcterms:modified xsi:type="dcterms:W3CDTF">2026-01-02T16:15:36Z</dcterms:modified>
</cp:coreProperties>
</file>