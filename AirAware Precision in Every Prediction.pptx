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6" r:id="rId10"/>
    <p:sldId id="265" r:id="rId11"/>
    <p:sldId id="262" r:id="rId12"/>
    <p:sldId id="263" r:id="rId13"/>
    <p:sldId id="264" r:id="rId14"/>
  </p:sldIdLst>
  <p:sldSz cx="14630400" cy="8229600"/>
  <p:notesSz cx="8229600" cy="14630400"/>
  <p:embeddedFontLst>
    <p:embeddedFont>
      <p:font typeface="Arial Rounded MT Bold" panose="020F0704030504030204" pitchFamily="34" charset="77"/>
      <p:regular r:id="rId16"/>
    </p:embeddedFont>
    <p:embeddedFont>
      <p:font typeface="Arimo" panose="020B0604020202020204" pitchFamily="34" charset="0"/>
      <p:regular r:id="rId17"/>
    </p:embeddedFont>
    <p:embeddedFont>
      <p:font typeface="Bahnschrift" panose="020B0502040204020203" pitchFamily="3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alifornian FB" panose="0207040306080B030204" pitchFamily="18" charset="77"/>
      <p:regular r:id="rId24"/>
      <p:bold r:id="rId25"/>
      <p: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Sitka Small" pitchFamily="2" charset="0"/>
      <p:regular r:id="rId31"/>
      <p:bold r:id="rId32"/>
      <p:italic r:id="rId33"/>
      <p:boldItalic r:id="rId34"/>
    </p:embeddedFont>
    <p:embeddedFont>
      <p:font typeface="Stencil" pitchFamily="82" charset="77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59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11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04693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itka Small" panose="02000505000000020004" pitchFamily="2" charset="0"/>
                <a:ea typeface="Syne Bold" pitchFamily="34" charset="-122"/>
                <a:cs typeface="Syne Bold" pitchFamily="34" charset="-120"/>
              </a:rPr>
              <a:t>AirAware – Smart Air Quality Prediction System</a:t>
            </a:r>
            <a:endParaRPr lang="en-US" sz="4400" dirty="0">
              <a:latin typeface="Sitka Small" panose="02000505000000020004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24124" y="477571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Intern:</a:t>
            </a: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Sharmika Gangadharan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Mentor:</a:t>
            </a: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Shakthi Gopalakrishnan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Organization:</a:t>
            </a: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Infosys Springboard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F2F3AA-FFF2-3C9A-75F3-4395FE2E1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0" y="7766833"/>
            <a:ext cx="37719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817" y="570214"/>
            <a:ext cx="6826866" cy="477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The Challenge We're Solving</a:t>
            </a:r>
            <a:endParaRPr 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8530" y="1664673"/>
            <a:ext cx="4691837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tencil" panose="040409050D0802020404" pitchFamily="82" charset="0"/>
                <a:ea typeface="Syne Bold" pitchFamily="34" charset="-122"/>
                <a:cs typeface="Syne Bold" pitchFamily="34" charset="-120"/>
              </a:rPr>
              <a:t>Rising Pollution Crisis</a:t>
            </a:r>
            <a:endParaRPr lang="en-US" sz="3600" dirty="0">
              <a:latin typeface="Stencil" panose="040409050D0802020404" pitchFamily="8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8531" y="2310003"/>
            <a:ext cx="6549152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400" dirty="0">
              <a:solidFill>
                <a:srgbClr val="D9E1FF"/>
              </a:solidFill>
              <a:latin typeface="Californian FB" panose="0207040306080B030204" pitchFamily="18" charset="0"/>
              <a:ea typeface="Arimo" pitchFamily="34" charset="-122"/>
              <a:cs typeface="Arimo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2400" dirty="0">
                <a:solidFill>
                  <a:srgbClr val="D9E1FF"/>
                </a:solidFill>
                <a:latin typeface="Californian FB" panose="0207040306080B030204" pitchFamily="18" charset="0"/>
                <a:ea typeface="Arimo" pitchFamily="34" charset="-122"/>
                <a:cs typeface="Arimo" pitchFamily="34" charset="-120"/>
              </a:rPr>
              <a:t>Air pollution is escalating rapidly across Indian cities, with millions exposed to hazardous air quality daily. Current systems only display live AQI readings without forecasting future trends.</a:t>
            </a:r>
            <a:endParaRPr lang="en-US" sz="2400" dirty="0">
              <a:latin typeface="Californian FB" panose="0207040306080B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8531" y="4589740"/>
            <a:ext cx="6549152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Gap:</a:t>
            </a:r>
            <a:r>
              <a:rPr lang="en-US" sz="2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Users lack early warnings before pollution reaches harmful levels, making it impossible to plan ahead or take preventive action.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201" y="684966"/>
            <a:ext cx="6549152" cy="65491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29" y="8507373"/>
            <a:ext cx="202883" cy="1622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7289" y="7800118"/>
            <a:ext cx="12804577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B9067-16C8-D362-F592-7D62AE374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0" y="7766833"/>
            <a:ext cx="37719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056FA-FA44-6DB7-0A70-DDA4B37A2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FCEE8-7E72-D26D-7245-0EAF2179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4E0679-0287-FA29-EA9A-4043BF63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7766833"/>
            <a:ext cx="37719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2118" y="590907"/>
            <a:ext cx="10081974" cy="631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AirAware: A </a:t>
            </a:r>
            <a:r>
              <a:rPr lang="en-US" sz="395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Comprehensive</a:t>
            </a:r>
            <a:r>
              <a:rPr lang="en-US" sz="39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Solution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52118" y="1652588"/>
            <a:ext cx="6455688" cy="2421612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4" name="Shape 2"/>
          <p:cNvSpPr/>
          <p:nvPr/>
        </p:nvSpPr>
        <p:spPr>
          <a:xfrm>
            <a:off x="966907" y="1867376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8061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4191" y="2044541"/>
            <a:ext cx="290036" cy="2900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6907" y="2726769"/>
            <a:ext cx="3007400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Real-Time Monitoring</a:t>
            </a:r>
            <a:endParaRPr lang="en-US" sz="19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66907" y="3171706"/>
            <a:ext cx="6026110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AQI tracking using OpenWeatherMap Air Pollution API across all Indian states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22594" y="1652588"/>
            <a:ext cx="6455688" cy="2421612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9" name="Shape 6"/>
          <p:cNvSpPr/>
          <p:nvPr/>
        </p:nvSpPr>
        <p:spPr>
          <a:xfrm>
            <a:off x="7637383" y="1867376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8061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4667" y="2044541"/>
            <a:ext cx="290036" cy="2900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7383" y="2726769"/>
            <a:ext cx="3153847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ML-Based Forecasting</a:t>
            </a:r>
            <a:endParaRPr lang="en-US" sz="195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37383" y="3171706"/>
            <a:ext cx="6026110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Machine learning algorithms predict future pollution trends and patterns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52118" y="4288988"/>
            <a:ext cx="6455688" cy="2421612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14" name="Shape 10"/>
          <p:cNvSpPr/>
          <p:nvPr/>
        </p:nvSpPr>
        <p:spPr>
          <a:xfrm>
            <a:off x="966907" y="4503777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8061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4191" y="4680942"/>
            <a:ext cx="290036" cy="2900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6907" y="5363170"/>
            <a:ext cx="3118247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Interactive Dashboard</a:t>
            </a:r>
            <a:endParaRPr lang="en-US" sz="195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66907" y="5808107"/>
            <a:ext cx="6026110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Visual analytics for PM2.5, PM10, NO₂, SO₂, CO, and O₃ pollutants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22594" y="4288988"/>
            <a:ext cx="6455688" cy="2421612"/>
          </a:xfrm>
          <a:prstGeom prst="roundRect">
            <a:avLst>
              <a:gd name="adj" fmla="val 1331"/>
            </a:avLst>
          </a:prstGeom>
          <a:solidFill>
            <a:srgbClr val="2B295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37383" y="4503777"/>
            <a:ext cx="644604" cy="644604"/>
          </a:xfrm>
          <a:prstGeom prst="roundRect">
            <a:avLst>
              <a:gd name="adj" fmla="val 14184035"/>
            </a:avLst>
          </a:prstGeom>
          <a:solidFill>
            <a:srgbClr val="8061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4667" y="4680942"/>
            <a:ext cx="290036" cy="2900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7383" y="5363170"/>
            <a:ext cx="2528292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Smart Alerts</a:t>
            </a:r>
            <a:endParaRPr lang="en-US" sz="1950" dirty="0">
              <a:latin typeface="Arial Rounded MT Bold" panose="020F070403050403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637383" y="5808107"/>
            <a:ext cx="6026110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notifications when air quality reaches harmful levels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52118" y="6952298"/>
            <a:ext cx="13126164" cy="68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AirAware integrates backend infrastructure, database management, and machine learning pipelines to create a complete environmental monitoring ecosystem that supports live tracking, forecasting, and visualization.</a:t>
            </a: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D8B76E-16F0-6A26-8E35-8517E11700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8500" y="7766833"/>
            <a:ext cx="37719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994" y="560546"/>
            <a:ext cx="7937183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System Architecture Overview</a:t>
            </a:r>
            <a:endParaRPr lang="en-US" sz="3750" dirty="0"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4" y="1565791"/>
            <a:ext cx="1017151" cy="12206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2503" y="1769150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Frontend UI Layer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32503" y="2190274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HTML/CSS/JavaScript dashboard with Chart.js visualizations for interactive AQI display and real-time graphs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4" y="2786420"/>
            <a:ext cx="1017151" cy="12206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32503" y="2989778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Flask Backend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932503" y="3410903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API routes connecting ML model, dataset, and external APIs for seamless data flow and processing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94" y="4007048"/>
            <a:ext cx="1017151" cy="12206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32503" y="4210407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Dataset Layer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932503" y="4631531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Auto-generated CSV with pollutant metrics covering 36 Indian states and union territories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94" y="5227677"/>
            <a:ext cx="1017151" cy="12206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32503" y="5431036"/>
            <a:ext cx="2800231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ML Prediction Engine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932503" y="5852160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Linear regression model analyzing historical patterns to forecast future AQI trends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94" y="6448306"/>
            <a:ext cx="1017151" cy="12206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32503" y="6651665"/>
            <a:ext cx="3114556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External API Integration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932503" y="7072789"/>
            <a:ext cx="1198590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OpenWeatherMap API providing real-time pollutant values and weather conditions</a:t>
            </a:r>
            <a:endParaRPr lang="en-US" sz="16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8CF5E92-0382-38DA-EDD4-CBCA7F75FF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0" y="7766833"/>
            <a:ext cx="37719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780" y="560784"/>
            <a:ext cx="8355687" cy="599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Project Architecture &amp; Structure</a:t>
            </a:r>
            <a:endParaRPr lang="en-US" sz="3750" dirty="0">
              <a:latin typeface="Arial Rounded MT Bold" panose="020F07040305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13780" y="1695926"/>
            <a:ext cx="7722632" cy="3241834"/>
          </a:xfrm>
          <a:prstGeom prst="roundRect">
            <a:avLst>
              <a:gd name="adj" fmla="val 944"/>
            </a:avLst>
          </a:prstGeom>
          <a:solidFill>
            <a:srgbClr val="191740"/>
          </a:solidFill>
          <a:ln/>
        </p:spPr>
      </p:sp>
      <p:sp>
        <p:nvSpPr>
          <p:cNvPr id="4" name="Shape 2"/>
          <p:cNvSpPr/>
          <p:nvPr/>
        </p:nvSpPr>
        <p:spPr>
          <a:xfrm>
            <a:off x="703659" y="1695926"/>
            <a:ext cx="7742873" cy="3241834"/>
          </a:xfrm>
          <a:prstGeom prst="roundRect">
            <a:avLst>
              <a:gd name="adj" fmla="val 944"/>
            </a:avLst>
          </a:prstGeom>
          <a:solidFill>
            <a:srgbClr val="191740"/>
          </a:solidFill>
          <a:ln/>
        </p:spPr>
      </p:sp>
      <p:sp>
        <p:nvSpPr>
          <p:cNvPr id="5" name="Text 3"/>
          <p:cNvSpPr/>
          <p:nvPr/>
        </p:nvSpPr>
        <p:spPr>
          <a:xfrm>
            <a:off x="907494" y="1848803"/>
            <a:ext cx="7335203" cy="4104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 err="1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airaware</a:t>
            </a: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generate_air_quality_csv.py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data/│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air_quality.csv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templates/│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├── landing.html│   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└── dashboard.html</a:t>
            </a:r>
          </a:p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highlight>
                  <a:srgbClr val="1917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8434" y="5704998"/>
            <a:ext cx="7722632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Philosophy:</a:t>
            </a:r>
            <a:r>
              <a:rPr lang="en-US" sz="2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This modular structure ensures clean code organization, component reusability, and system scalability. Each layer operates independently while maintaining seamless integration.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941475" y="1695926"/>
            <a:ext cx="4982647" cy="1283256"/>
          </a:xfrm>
          <a:prstGeom prst="roundRect">
            <a:avLst>
              <a:gd name="adj" fmla="val 2384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68170" y="1922621"/>
            <a:ext cx="239934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app.py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68170" y="2426256"/>
            <a:ext cx="452925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Flask backend server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41475" y="3183017"/>
            <a:ext cx="4982647" cy="1283256"/>
          </a:xfrm>
          <a:prstGeom prst="roundRect">
            <a:avLst>
              <a:gd name="adj" fmla="val 2384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68170" y="3409712"/>
            <a:ext cx="380916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generate_air_quality_csv.py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68170" y="3913346"/>
            <a:ext cx="452925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Live dataset generator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941475" y="4670108"/>
            <a:ext cx="4982647" cy="1283256"/>
          </a:xfrm>
          <a:prstGeom prst="roundRect">
            <a:avLst>
              <a:gd name="adj" fmla="val 2384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68170" y="4896803"/>
            <a:ext cx="239934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Templates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68170" y="5400437"/>
            <a:ext cx="452925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Landing &amp; dashboard UI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41475" y="6157198"/>
            <a:ext cx="4982647" cy="1283256"/>
          </a:xfrm>
          <a:prstGeom prst="roundRect">
            <a:avLst>
              <a:gd name="adj" fmla="val 2384"/>
            </a:avLst>
          </a:prstGeom>
          <a:solidFill>
            <a:srgbClr val="0C0A33"/>
          </a:solidFill>
          <a:ln w="22860">
            <a:solidFill>
              <a:srgbClr val="4442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8170" y="6383893"/>
            <a:ext cx="239934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Data</a:t>
            </a:r>
            <a:endParaRPr lang="en-US" sz="1850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68170" y="6887528"/>
            <a:ext cx="4529257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 CSV dataset</a:t>
            </a:r>
            <a:endParaRPr lang="en-US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5954FA-CE44-9BB4-96EF-78A7FDA4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7766833"/>
            <a:ext cx="37719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9016" y="551378"/>
            <a:ext cx="7745968" cy="1174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Comprehensive Dataset Design</a:t>
            </a:r>
            <a:endParaRPr lang="en-US" sz="3700" dirty="0">
              <a:latin typeface="Arial Rounded MT Bold" panose="020F070403050403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99016" y="2225278"/>
            <a:ext cx="222968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Location Data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9016" y="2777371"/>
            <a:ext cx="2229683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State and city names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9016" y="3166824"/>
            <a:ext cx="2229683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Monitoring stations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9016" y="3556278"/>
            <a:ext cx="2229683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Latitude/longitude coordinates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9016" y="4265295"/>
            <a:ext cx="2229683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Timestamp information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423523" y="2225278"/>
            <a:ext cx="222968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Air Quality Metrics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23523" y="3129796"/>
            <a:ext cx="2229683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AQI and category classification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3423523" y="3838813"/>
            <a:ext cx="2229683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PM2.5, PM10 particulate matter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423523" y="4547830"/>
            <a:ext cx="2229683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NO₂, SO₂, CO, O₃ levels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423523" y="5256848"/>
            <a:ext cx="2229683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Temperature readings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148030" y="2225278"/>
            <a:ext cx="23120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Data Processing</a:t>
            </a:r>
            <a:endParaRPr lang="en-US" sz="220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148030" y="3129796"/>
            <a:ext cx="2312075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Missing value handling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148030" y="3838813"/>
            <a:ext cx="2312075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Normalization techniques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148030" y="4547830"/>
            <a:ext cx="2312075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Outlier removal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148030" y="4937284"/>
            <a:ext cx="2312075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Time-series formatting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699016" y="6190536"/>
            <a:ext cx="7745968" cy="1487686"/>
          </a:xfrm>
          <a:prstGeom prst="roundRect">
            <a:avLst>
              <a:gd name="adj" fmla="val 2014"/>
            </a:avLst>
          </a:prstGeom>
          <a:solidFill>
            <a:srgbClr val="0F004D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84" y="6486287"/>
            <a:ext cx="249555" cy="1996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347907" y="6440091"/>
            <a:ext cx="6897410" cy="9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Source:</a:t>
            </a:r>
            <a:r>
              <a:rPr lang="en-US" sz="15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OpenWeatherMap Air Pollution API covering all Indian states and union territories, with 3-4 months of historical data (expandable for deeper analysis)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156103-D1EE-AC99-B10C-039D8A72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78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6072BF-6624-DFDA-2E0D-2E16BA14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8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697" y="337542"/>
            <a:ext cx="5486995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Machine Learning Implementation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5302" y="3592948"/>
            <a:ext cx="6032183" cy="775573"/>
          </a:xfrm>
          <a:prstGeom prst="roundRect">
            <a:avLst>
              <a:gd name="adj" fmla="val 2375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4937" y="1035963"/>
            <a:ext cx="491014" cy="745093"/>
          </a:xfrm>
          <a:prstGeom prst="roundRect">
            <a:avLst>
              <a:gd name="adj" fmla="val 26"/>
            </a:avLst>
          </a:prstGeom>
          <a:solidFill>
            <a:srgbClr val="2B2952"/>
          </a:solidFill>
          <a:ln/>
        </p:spPr>
      </p:sp>
      <p:sp>
        <p:nvSpPr>
          <p:cNvPr id="5" name="Text 3"/>
          <p:cNvSpPr/>
          <p:nvPr/>
        </p:nvSpPr>
        <p:spPr>
          <a:xfrm>
            <a:off x="598408" y="1293376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8704" y="1158716"/>
            <a:ext cx="1444347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Data Collection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8704" y="1461968"/>
            <a:ext cx="5265182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Gather historical AQI values and pollutant metrics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9697" y="1919049"/>
            <a:ext cx="6032183" cy="775573"/>
          </a:xfrm>
          <a:prstGeom prst="roundRect">
            <a:avLst>
              <a:gd name="adj" fmla="val 2375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4937" y="1934289"/>
            <a:ext cx="491014" cy="745093"/>
          </a:xfrm>
          <a:prstGeom prst="roundRect">
            <a:avLst>
              <a:gd name="adj" fmla="val 26"/>
            </a:avLst>
          </a:prstGeom>
          <a:solidFill>
            <a:srgbClr val="2B2952"/>
          </a:solidFill>
          <a:ln/>
        </p:spPr>
      </p:sp>
      <p:sp>
        <p:nvSpPr>
          <p:cNvPr id="10" name="Text 8"/>
          <p:cNvSpPr/>
          <p:nvPr/>
        </p:nvSpPr>
        <p:spPr>
          <a:xfrm>
            <a:off x="598408" y="2191703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58704" y="2057043"/>
            <a:ext cx="1444347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Model Training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8704" y="2360295"/>
            <a:ext cx="5265182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 linear regression on time-series patterns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29697" y="2817376"/>
            <a:ext cx="6032183" cy="775573"/>
          </a:xfrm>
          <a:prstGeom prst="roundRect">
            <a:avLst>
              <a:gd name="adj" fmla="val 2375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937" y="2832616"/>
            <a:ext cx="491014" cy="745093"/>
          </a:xfrm>
          <a:prstGeom prst="roundRect">
            <a:avLst>
              <a:gd name="adj" fmla="val 26"/>
            </a:avLst>
          </a:prstGeom>
          <a:solidFill>
            <a:srgbClr val="2B2952"/>
          </a:solidFill>
          <a:ln/>
        </p:spPr>
      </p:sp>
      <p:sp>
        <p:nvSpPr>
          <p:cNvPr id="15" name="Text 13"/>
          <p:cNvSpPr/>
          <p:nvPr/>
        </p:nvSpPr>
        <p:spPr>
          <a:xfrm>
            <a:off x="598408" y="3090029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58704" y="2955369"/>
            <a:ext cx="1444347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Prediction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8704" y="3258622"/>
            <a:ext cx="5265182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Forecast AQI for next N years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29697" y="3715703"/>
            <a:ext cx="6032183" cy="775573"/>
          </a:xfrm>
          <a:prstGeom prst="roundRect">
            <a:avLst>
              <a:gd name="adj" fmla="val 2375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4937" y="3730942"/>
            <a:ext cx="491014" cy="745093"/>
          </a:xfrm>
          <a:prstGeom prst="roundRect">
            <a:avLst>
              <a:gd name="adj" fmla="val 26"/>
            </a:avLst>
          </a:prstGeom>
          <a:solidFill>
            <a:srgbClr val="2B2952"/>
          </a:solidFill>
          <a:ln/>
        </p:spPr>
      </p:sp>
      <p:sp>
        <p:nvSpPr>
          <p:cNvPr id="20" name="Text 18"/>
          <p:cNvSpPr/>
          <p:nvPr/>
        </p:nvSpPr>
        <p:spPr>
          <a:xfrm>
            <a:off x="598408" y="3988356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058704" y="3853696"/>
            <a:ext cx="1444347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Validation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58704" y="4156948"/>
            <a:ext cx="5265182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Compare actual vs predicted values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29697" y="4614029"/>
            <a:ext cx="6032183" cy="775573"/>
          </a:xfrm>
          <a:prstGeom prst="roundRect">
            <a:avLst>
              <a:gd name="adj" fmla="val 2375"/>
            </a:avLst>
          </a:prstGeom>
          <a:solidFill>
            <a:srgbClr val="0C0A33"/>
          </a:solidFill>
          <a:ln w="15240">
            <a:solidFill>
              <a:srgbClr val="4442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4937" y="4629269"/>
            <a:ext cx="491014" cy="745093"/>
          </a:xfrm>
          <a:prstGeom prst="roundRect">
            <a:avLst>
              <a:gd name="adj" fmla="val 26"/>
            </a:avLst>
          </a:prstGeom>
          <a:solidFill>
            <a:srgbClr val="2B2952"/>
          </a:solidFill>
          <a:ln/>
        </p:spPr>
      </p:sp>
      <p:sp>
        <p:nvSpPr>
          <p:cNvPr id="25" name="Text 23"/>
          <p:cNvSpPr/>
          <p:nvPr/>
        </p:nvSpPr>
        <p:spPr>
          <a:xfrm>
            <a:off x="598408" y="4886682"/>
            <a:ext cx="184071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58704" y="4752023"/>
            <a:ext cx="1444347" cy="180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Visualization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58704" y="5055275"/>
            <a:ext cx="5265182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Display trend graphs on dashboard</a:t>
            </a:r>
            <a:endParaRPr lang="en-US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380" y="790456"/>
            <a:ext cx="7439144" cy="74391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769060" y="8597979"/>
            <a:ext cx="229123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Linear Regression?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769060" y="8937427"/>
            <a:ext cx="7439144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Time-series optimization:</a:t>
            </a: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Excellent for forecasting pollution trends over time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769060" y="9176623"/>
            <a:ext cx="7439144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Performance:</a:t>
            </a: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Lightweight and fast computation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769060" y="9415820"/>
            <a:ext cx="7439144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Interpretability:</a:t>
            </a: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Easy to visualize and understand predictions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769060" y="9722644"/>
            <a:ext cx="7439144" cy="19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Future Enhancements:</a:t>
            </a: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Random Forest, Support Vector Machines, and LSTM networks for deep learning-based predictions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08973"/>
            <a:ext cx="79671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Backend API Architecture</a:t>
            </a:r>
            <a:endParaRPr lang="en-US" sz="4400" dirty="0">
              <a:latin typeface="Arial Rounded MT Bold" panose="020F070403050403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37724" y="2491740"/>
            <a:ext cx="12954952" cy="3776663"/>
          </a:xfrm>
          <a:prstGeom prst="roundRect">
            <a:avLst>
              <a:gd name="adj" fmla="val 951"/>
            </a:avLst>
          </a:prstGeom>
          <a:solidFill>
            <a:srgbClr val="2B2952"/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2491740"/>
            <a:ext cx="4318278" cy="3776663"/>
          </a:xfrm>
          <a:prstGeom prst="roundRect">
            <a:avLst>
              <a:gd name="adj" fmla="val 951"/>
            </a:avLst>
          </a:prstGeom>
          <a:solidFill>
            <a:srgbClr val="2B2952"/>
          </a:solidFill>
          <a:ln/>
        </p:spPr>
      </p:sp>
      <p:sp>
        <p:nvSpPr>
          <p:cNvPr id="5" name="Text 3"/>
          <p:cNvSpPr/>
          <p:nvPr/>
        </p:nvSpPr>
        <p:spPr>
          <a:xfrm>
            <a:off x="1077039" y="2731056"/>
            <a:ext cx="3839647" cy="84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GET /api/state/&lt;name&gt;</a:t>
            </a:r>
            <a:endParaRPr lang="en-US" sz="2650" dirty="0">
              <a:latin typeface="Arial Rounded MT Bold" panose="020F0704030504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77039" y="3719274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Returns: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77039" y="4245888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AQI summary statistics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77039" y="4712613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Pollutant composition mix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77039" y="5179338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Hourly and monthly time series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77039" y="5646063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Current weather conditions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5156002" y="2491740"/>
            <a:ext cx="4318278" cy="3776663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12" name="Shape 10"/>
          <p:cNvSpPr/>
          <p:nvPr/>
        </p:nvSpPr>
        <p:spPr>
          <a:xfrm>
            <a:off x="5156002" y="2491740"/>
            <a:ext cx="30480" cy="3776663"/>
          </a:xfrm>
          <a:prstGeom prst="roundRect">
            <a:avLst>
              <a:gd name="adj" fmla="val 117806"/>
            </a:avLst>
          </a:prstGeom>
          <a:solidFill>
            <a:srgbClr val="44426B"/>
          </a:solidFill>
          <a:ln/>
        </p:spPr>
      </p:sp>
      <p:sp>
        <p:nvSpPr>
          <p:cNvPr id="13" name="Text 11"/>
          <p:cNvSpPr/>
          <p:nvPr/>
        </p:nvSpPr>
        <p:spPr>
          <a:xfrm>
            <a:off x="5395317" y="2731056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GET /</a:t>
            </a:r>
            <a:r>
              <a:rPr lang="en-US" sz="2650" b="1" dirty="0" err="1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api</a:t>
            </a:r>
            <a:r>
              <a:rPr lang="en-US" sz="26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/</a:t>
            </a:r>
            <a:r>
              <a:rPr lang="en-US" sz="2650" b="1" dirty="0" err="1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Apredict</a:t>
            </a:r>
            <a:endParaRPr lang="en-US" sz="2650" dirty="0">
              <a:latin typeface="Arial Rounded MT Bold" panose="020F07040305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95317" y="3296960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Parameters:</a:t>
            </a: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state, years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5395317" y="3823573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Returns: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395317" y="4350187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Forecasted AQI values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5395317" y="4816912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Prediction trend line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5395317" y="5283637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Year-wise prediction table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9474279" y="2491740"/>
            <a:ext cx="4318278" cy="3776663"/>
          </a:xfrm>
          <a:prstGeom prst="rect">
            <a:avLst/>
          </a:prstGeom>
          <a:solidFill>
            <a:srgbClr val="2B2952"/>
          </a:solidFill>
          <a:ln/>
        </p:spPr>
      </p:sp>
      <p:sp>
        <p:nvSpPr>
          <p:cNvPr id="20" name="Shape 18"/>
          <p:cNvSpPr/>
          <p:nvPr/>
        </p:nvSpPr>
        <p:spPr>
          <a:xfrm>
            <a:off x="9474279" y="2491740"/>
            <a:ext cx="30480" cy="3776663"/>
          </a:xfrm>
          <a:prstGeom prst="roundRect">
            <a:avLst>
              <a:gd name="adj" fmla="val 117806"/>
            </a:avLst>
          </a:prstGeom>
          <a:solidFill>
            <a:srgbClr val="44426B"/>
          </a:solidFill>
          <a:ln/>
        </p:spPr>
      </p:sp>
      <p:sp>
        <p:nvSpPr>
          <p:cNvPr id="21" name="Text 19"/>
          <p:cNvSpPr/>
          <p:nvPr/>
        </p:nvSpPr>
        <p:spPr>
          <a:xfrm>
            <a:off x="9713595" y="2731056"/>
            <a:ext cx="3839647" cy="84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CSV Generator Script</a:t>
            </a:r>
            <a:endParaRPr lang="en-US" sz="2650" dirty="0">
              <a:latin typeface="Arial Rounded MT Bold" panose="020F0704030504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713595" y="3719274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Generates: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9713595" y="4245888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air_quality.csv dataset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9713595" y="4712613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Uses OpenWeatherMap API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9713595" y="5179338"/>
            <a:ext cx="383964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Updates with latest data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837724" y="653760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endpoint is optimized for performance and delivers structured JSON responses for seamless frontend integration.</a:t>
            </a:r>
            <a:endParaRPr lang="en-US" sz="18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7D52A8C-5CC7-E918-C1E0-C5749A27E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7766833"/>
            <a:ext cx="37719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0071" y="709493"/>
            <a:ext cx="3833098" cy="478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Results &amp; Impact</a:t>
            </a:r>
            <a:endParaRPr lang="en-US" sz="4000" dirty="0">
              <a:latin typeface="Arial Rounded MT Bold" panose="020F070403050403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0071" y="1432798"/>
            <a:ext cx="366474" cy="366474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1099423" y="1463278"/>
            <a:ext cx="3970139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Real-Time Monitoring Achieved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99423" y="1848445"/>
            <a:ext cx="7474506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Successfully deployed AQI tracking across all Indian states with live updates and comprehensive pollutant analysis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70071" y="2695218"/>
            <a:ext cx="366474" cy="366474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1099423" y="2725698"/>
            <a:ext cx="2829520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Predictive Forecasting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99423" y="3110865"/>
            <a:ext cx="7474506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Machine learning model accurately forecasts future air quality trends, enabling proactive decision-making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70071" y="3957638"/>
            <a:ext cx="366474" cy="366474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1099423" y="3988117"/>
            <a:ext cx="297251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Arial Rounded MT Bold" panose="020F0704030504030204" pitchFamily="34" charset="0"/>
                <a:ea typeface="Syne Bold" pitchFamily="34" charset="-122"/>
                <a:cs typeface="Syne Bold" pitchFamily="34" charset="-120"/>
              </a:rPr>
              <a:t>Enhanced Visualization</a:t>
            </a:r>
            <a:endParaRPr lang="en-US" sz="240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99423" y="4373285"/>
            <a:ext cx="7474506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dashboard with multiple chart types provides clear insights into</a:t>
            </a:r>
          </a:p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pollution patterns and trends</a:t>
            </a:r>
          </a:p>
          <a:p>
            <a:pPr marL="0" indent="0" algn="l">
              <a:lnSpc>
                <a:spcPts val="2050"/>
              </a:lnSpc>
              <a:buNone/>
            </a:pPr>
            <a:endParaRPr lang="en-US" dirty="0">
              <a:solidFill>
                <a:srgbClr val="D9E1FF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9070" y="5030872"/>
            <a:ext cx="366474" cy="366474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sp>
        <p:nvSpPr>
          <p:cNvPr id="14" name="Text 11"/>
          <p:cNvSpPr/>
          <p:nvPr/>
        </p:nvSpPr>
        <p:spPr>
          <a:xfrm>
            <a:off x="1099423" y="4990028"/>
            <a:ext cx="2299811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Actionable Alerts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99423" y="5375196"/>
            <a:ext cx="7474506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notification system alerts users when air quality reaches harmful levels, protecting public health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70071" y="6160897"/>
            <a:ext cx="8003858" cy="27980"/>
          </a:xfrm>
          <a:prstGeom prst="rect">
            <a:avLst/>
          </a:prstGeom>
          <a:solidFill>
            <a:srgbClr val="D9E1FF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87598" y="6372106"/>
            <a:ext cx="7759541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400" b="1" dirty="0">
                <a:solidFill>
                  <a:srgbClr val="D9E1FF"/>
                </a:solidFill>
                <a:latin typeface="Bahnschrift" panose="020B0502040204020203" pitchFamily="34" charset="0"/>
                <a:ea typeface="Arimo" pitchFamily="34" charset="-122"/>
                <a:cs typeface="Arimo" pitchFamily="34" charset="-120"/>
              </a:rPr>
              <a:t>Conclusion:</a:t>
            </a:r>
            <a:r>
              <a:rPr lang="en-US" sz="2400" dirty="0">
                <a:solidFill>
                  <a:srgbClr val="D9E1FF"/>
                </a:solidFill>
                <a:latin typeface="Bahnschrift" panose="020B0502040204020203" pitchFamily="34" charset="0"/>
                <a:ea typeface="Arimo" pitchFamily="34" charset="-122"/>
                <a:cs typeface="Arimo" pitchFamily="34" charset="-120"/>
              </a:rPr>
              <a:t> AirAware successfully demonstrates how Machine Learning, APIs, and Full-Stack Development can be combined to build a powerful environmental monitoring system. This solution can be extended to IoT sensors, mobile applications, and smart-city integrations for broader impact</a:t>
            </a:r>
            <a:r>
              <a:rPr lang="en-US" sz="1250" dirty="0">
                <a:solidFill>
                  <a:srgbClr val="D9E1FF"/>
                </a:solidFill>
                <a:latin typeface="Bahnschrift" panose="020B0502040204020203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250" dirty="0">
              <a:latin typeface="Bahnschrift" panose="020B0502040204020203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70071" y="6372106"/>
            <a:ext cx="22860" cy="1148001"/>
          </a:xfrm>
          <a:prstGeom prst="rect">
            <a:avLst/>
          </a:prstGeom>
          <a:solidFill>
            <a:srgbClr val="8061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731</Words>
  <Application>Microsoft Macintosh PowerPoint</Application>
  <PresentationFormat>Custom</PresentationFormat>
  <Paragraphs>126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Syne Bold</vt:lpstr>
      <vt:lpstr>Sitka Small</vt:lpstr>
      <vt:lpstr>Bahnschrift</vt:lpstr>
      <vt:lpstr>Arial Rounded MT Bold</vt:lpstr>
      <vt:lpstr>Stencil</vt:lpstr>
      <vt:lpstr>Arimo</vt:lpstr>
      <vt:lpstr>Consolas</vt:lpstr>
      <vt:lpstr>Californian FB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GANGA</dc:creator>
  <cp:lastModifiedBy>Surya Siva Shankar Tirumani</cp:lastModifiedBy>
  <cp:revision>5</cp:revision>
  <cp:lastPrinted>2025-12-01T13:03:42Z</cp:lastPrinted>
  <dcterms:created xsi:type="dcterms:W3CDTF">2025-12-01T10:53:15Z</dcterms:created>
  <dcterms:modified xsi:type="dcterms:W3CDTF">2025-12-01T13:03:49Z</dcterms:modified>
</cp:coreProperties>
</file>