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Bricolage Grotesque Extra Bold"/>
      <p:regular r:id="rId15"/>
    </p:embeddedFont>
    <p:embeddedFont>
      <p:font typeface="Montserrat"/>
      <p:regular r:id="rId16"/>
    </p:embeddedFont>
    <p:embeddedFont>
      <p:font typeface="Montserrat"/>
      <p:regular r:id="rId17"/>
    </p:embeddedFont>
    <p:embeddedFont>
      <p:font typeface="Montserrat"/>
      <p:regular r:id="rId18"/>
    </p:embeddedFont>
    <p:embeddedFont>
      <p:font typeface="Montserrat"/>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2436376"/>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EEAEF6"/>
                </a:solidFill>
                <a:latin typeface="Bricolage Grotesque Extra Bold" pitchFamily="34" charset="0"/>
                <a:ea typeface="Bricolage Grotesque Extra Bold" pitchFamily="34" charset="-122"/>
                <a:cs typeface="Bricolage Grotesque Extra Bold" pitchFamily="34" charset="-120"/>
              </a:rPr>
              <a:t>Milestone 4: 100% Project Completion</a:t>
            </a:r>
            <a:endParaRPr lang="en-US" sz="4450" dirty="0"/>
          </a:p>
        </p:txBody>
      </p:sp>
      <p:sp>
        <p:nvSpPr>
          <p:cNvPr id="4" name="Text 1"/>
          <p:cNvSpPr/>
          <p:nvPr/>
        </p:nvSpPr>
        <p:spPr>
          <a:xfrm>
            <a:off x="793790" y="4194096"/>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E5DCE6"/>
                </a:solidFill>
                <a:latin typeface="Montserrat" pitchFamily="34" charset="0"/>
                <a:ea typeface="Montserrat" pitchFamily="34" charset="-122"/>
                <a:cs typeface="Montserrat" pitchFamily="34" charset="-120"/>
              </a:rPr>
              <a:t>Project Name:</a:t>
            </a:r>
            <a:pPr algn="l"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 Air Quality Monitoring Dashboard</a:t>
            </a:r>
            <a:endParaRPr lang="en-US" sz="1750" dirty="0"/>
          </a:p>
        </p:txBody>
      </p:sp>
      <p:sp>
        <p:nvSpPr>
          <p:cNvPr id="5" name="Text 2"/>
          <p:cNvSpPr/>
          <p:nvPr/>
        </p:nvSpPr>
        <p:spPr>
          <a:xfrm>
            <a:off x="793790" y="4812149"/>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E5DCE6"/>
                </a:solidFill>
                <a:latin typeface="Montserrat" pitchFamily="34" charset="0"/>
                <a:ea typeface="Montserrat" pitchFamily="34" charset="-122"/>
                <a:cs typeface="Montserrat" pitchFamily="34" charset="-120"/>
              </a:rPr>
              <a:t>Platform:</a:t>
            </a:r>
            <a:pPr algn="l"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 Infosys Springboard</a:t>
            </a:r>
            <a:endParaRPr lang="en-US" sz="1750" dirty="0"/>
          </a:p>
        </p:txBody>
      </p:sp>
      <p:sp>
        <p:nvSpPr>
          <p:cNvPr id="6" name="Text 3"/>
          <p:cNvSpPr/>
          <p:nvPr/>
        </p:nvSpPr>
        <p:spPr>
          <a:xfrm>
            <a:off x="793790" y="5430203"/>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E5DCE6"/>
                </a:solidFill>
                <a:latin typeface="Montserrat" pitchFamily="34" charset="0"/>
                <a:ea typeface="Montserrat" pitchFamily="34" charset="-122"/>
                <a:cs typeface="Montserrat" pitchFamily="34" charset="-120"/>
              </a:rPr>
              <a:t>Presented by:</a:t>
            </a:r>
            <a:pPr algn="l"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 Sharmika Gangadharan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Shape 0"/>
          <p:cNvSpPr/>
          <p:nvPr/>
        </p:nvSpPr>
        <p:spPr>
          <a:xfrm>
            <a:off x="6252567" y="777359"/>
            <a:ext cx="2004655" cy="411361"/>
          </a:xfrm>
          <a:prstGeom prst="roundRect">
            <a:avLst>
              <a:gd name="adj" fmla="val 17882"/>
            </a:avLst>
          </a:prstGeom>
          <a:solidFill>
            <a:srgbClr val="3E0845"/>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83893" y="895469"/>
            <a:ext cx="175022" cy="175022"/>
          </a:xfrm>
          <a:prstGeom prst="rect">
            <a:avLst/>
          </a:prstGeom>
        </p:spPr>
      </p:pic>
      <p:sp>
        <p:nvSpPr>
          <p:cNvPr id="5" name="Text 1"/>
          <p:cNvSpPr/>
          <p:nvPr/>
        </p:nvSpPr>
        <p:spPr>
          <a:xfrm>
            <a:off x="6646426" y="842963"/>
            <a:ext cx="1479471" cy="280154"/>
          </a:xfrm>
          <a:prstGeom prst="rect">
            <a:avLst/>
          </a:prstGeom>
          <a:noFill/>
          <a:ln/>
        </p:spPr>
        <p:txBody>
          <a:bodyPr wrap="none" lIns="0" tIns="0" rIns="0" bIns="0" rtlCol="0" anchor="t"/>
          <a:lstStyle/>
          <a:p>
            <a:pPr algn="l" indent="0" marL="0">
              <a:lnSpc>
                <a:spcPts val="2200"/>
              </a:lnSpc>
              <a:buNone/>
            </a:pPr>
            <a:r>
              <a:rPr lang="en-US" sz="1350" dirty="0">
                <a:solidFill>
                  <a:srgbClr val="E5DCE6"/>
                </a:solidFill>
                <a:latin typeface="Montserrat" pitchFamily="34" charset="0"/>
                <a:ea typeface="Montserrat" pitchFamily="34" charset="-122"/>
                <a:cs typeface="Montserrat" pitchFamily="34" charset="-120"/>
              </a:rPr>
              <a:t>100% COMPLETE</a:t>
            </a:r>
            <a:endParaRPr lang="en-US" sz="1350" dirty="0"/>
          </a:p>
        </p:txBody>
      </p:sp>
      <p:sp>
        <p:nvSpPr>
          <p:cNvPr id="6" name="Text 2"/>
          <p:cNvSpPr/>
          <p:nvPr/>
        </p:nvSpPr>
        <p:spPr>
          <a:xfrm>
            <a:off x="6252567" y="1276231"/>
            <a:ext cx="7611666" cy="1368266"/>
          </a:xfrm>
          <a:prstGeom prst="rect">
            <a:avLst/>
          </a:prstGeom>
          <a:noFill/>
          <a:ln/>
        </p:spPr>
        <p:txBody>
          <a:bodyPr wrap="square" lIns="0" tIns="0" rIns="0" bIns="0" rtlCol="0" anchor="t"/>
          <a:lstStyle/>
          <a:p>
            <a:pPr algn="l" indent="0" marL="0">
              <a:lnSpc>
                <a:spcPts val="5350"/>
              </a:lnSpc>
              <a:buNone/>
            </a:pPr>
            <a:r>
              <a:rPr lang="en-US" sz="4300" b="1" dirty="0">
                <a:solidFill>
                  <a:srgbClr val="EEAEF6"/>
                </a:solidFill>
                <a:latin typeface="Bricolage Grotesque Extra Bold" pitchFamily="34" charset="0"/>
                <a:ea typeface="Bricolage Grotesque Extra Bold" pitchFamily="34" charset="-122"/>
                <a:cs typeface="Bricolage Grotesque Extra Bold" pitchFamily="34" charset="-120"/>
              </a:rPr>
              <a:t>Production-Ready Milestone Achieved</a:t>
            </a:r>
            <a:endParaRPr lang="en-US" sz="4300" dirty="0"/>
          </a:p>
        </p:txBody>
      </p:sp>
      <p:sp>
        <p:nvSpPr>
          <p:cNvPr id="7" name="Text 3"/>
          <p:cNvSpPr/>
          <p:nvPr/>
        </p:nvSpPr>
        <p:spPr>
          <a:xfrm>
            <a:off x="6252567" y="3191708"/>
            <a:ext cx="3131701" cy="341948"/>
          </a:xfrm>
          <a:prstGeom prst="rect">
            <a:avLst/>
          </a:prstGeom>
          <a:noFill/>
          <a:ln/>
        </p:spPr>
        <p:txBody>
          <a:bodyPr wrap="none" lIns="0" tIns="0" rIns="0" bIns="0" rtlCol="0" anchor="t"/>
          <a:lstStyle/>
          <a:p>
            <a:pPr algn="l" indent="0" marL="0">
              <a:lnSpc>
                <a:spcPts val="2650"/>
              </a:lnSpc>
              <a:buNone/>
            </a:pPr>
            <a:r>
              <a:rPr lang="en-US" sz="2150" b="1" dirty="0">
                <a:solidFill>
                  <a:srgbClr val="EEAEF6"/>
                </a:solidFill>
                <a:latin typeface="Bricolage Grotesque Extra Bold" pitchFamily="34" charset="0"/>
                <a:ea typeface="Bricolage Grotesque Extra Bold" pitchFamily="34" charset="-122"/>
                <a:cs typeface="Bricolage Grotesque Extra Bold" pitchFamily="34" charset="-120"/>
              </a:rPr>
              <a:t>Achievement Overview</a:t>
            </a:r>
            <a:endParaRPr lang="en-US" sz="2150" dirty="0"/>
          </a:p>
        </p:txBody>
      </p:sp>
      <p:sp>
        <p:nvSpPr>
          <p:cNvPr id="8" name="Text 4"/>
          <p:cNvSpPr/>
          <p:nvPr/>
        </p:nvSpPr>
        <p:spPr>
          <a:xfrm>
            <a:off x="6252567" y="3752493"/>
            <a:ext cx="3538776" cy="3502819"/>
          </a:xfrm>
          <a:prstGeom prst="rect">
            <a:avLst/>
          </a:prstGeom>
          <a:noFill/>
          <a:ln/>
        </p:spPr>
        <p:txBody>
          <a:bodyPr wrap="square" lIns="0" tIns="0" rIns="0" bIns="0" rtlCol="0" anchor="t"/>
          <a:lstStyle/>
          <a:p>
            <a:pPr algn="l" indent="0" marL="0">
              <a:lnSpc>
                <a:spcPts val="2750"/>
              </a:lnSpc>
              <a:buNone/>
            </a:pPr>
            <a:r>
              <a:rPr lang="en-US" sz="1700" dirty="0">
                <a:solidFill>
                  <a:srgbClr val="E5DCE6"/>
                </a:solidFill>
                <a:latin typeface="Montserrat" pitchFamily="34" charset="0"/>
                <a:ea typeface="Montserrat" pitchFamily="34" charset="-122"/>
                <a:cs typeface="Montserrat" pitchFamily="34" charset="-120"/>
              </a:rPr>
              <a:t>At 100% completion, the Air Quality Monitoring Dashboard has reached a fully production-ready state. This final milestone represents the culmination of rigorous development, focusing on system optimization, comprehensive testing, stability improvements, and deployment readiness.</a:t>
            </a:r>
            <a:endParaRPr lang="en-US" sz="1700" dirty="0"/>
          </a:p>
        </p:txBody>
      </p:sp>
      <p:sp>
        <p:nvSpPr>
          <p:cNvPr id="9" name="Text 5"/>
          <p:cNvSpPr/>
          <p:nvPr/>
        </p:nvSpPr>
        <p:spPr>
          <a:xfrm>
            <a:off x="10333077" y="3191708"/>
            <a:ext cx="2736413" cy="341948"/>
          </a:xfrm>
          <a:prstGeom prst="rect">
            <a:avLst/>
          </a:prstGeom>
          <a:noFill/>
          <a:ln/>
        </p:spPr>
        <p:txBody>
          <a:bodyPr wrap="none" lIns="0" tIns="0" rIns="0" bIns="0" rtlCol="0" anchor="t"/>
          <a:lstStyle/>
          <a:p>
            <a:pPr algn="l" indent="0" marL="0">
              <a:lnSpc>
                <a:spcPts val="2650"/>
              </a:lnSpc>
              <a:buNone/>
            </a:pPr>
            <a:r>
              <a:rPr lang="en-US" sz="2150" b="1" dirty="0">
                <a:solidFill>
                  <a:srgbClr val="EEAEF6"/>
                </a:solidFill>
                <a:latin typeface="Bricolage Grotesque Extra Bold" pitchFamily="34" charset="0"/>
                <a:ea typeface="Bricolage Grotesque Extra Bold" pitchFamily="34" charset="-122"/>
                <a:cs typeface="Bricolage Grotesque Extra Bold" pitchFamily="34" charset="-120"/>
              </a:rPr>
              <a:t>Key Focus Areas</a:t>
            </a:r>
            <a:endParaRPr lang="en-US" sz="2150" dirty="0"/>
          </a:p>
        </p:txBody>
      </p:sp>
      <p:sp>
        <p:nvSpPr>
          <p:cNvPr id="10" name="Text 6"/>
          <p:cNvSpPr/>
          <p:nvPr/>
        </p:nvSpPr>
        <p:spPr>
          <a:xfrm>
            <a:off x="10333077" y="3752493"/>
            <a:ext cx="3538776" cy="700564"/>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E5DCE6"/>
                </a:solidFill>
                <a:latin typeface="Montserrat" pitchFamily="34" charset="0"/>
                <a:ea typeface="Montserrat" pitchFamily="34" charset="-122"/>
                <a:cs typeface="Montserrat" pitchFamily="34" charset="-120"/>
              </a:rPr>
              <a:t>Performance optimization and code refinement</a:t>
            </a:r>
            <a:endParaRPr lang="en-US" sz="1700" dirty="0"/>
          </a:p>
        </p:txBody>
      </p:sp>
      <p:sp>
        <p:nvSpPr>
          <p:cNvPr id="11" name="Text 7"/>
          <p:cNvSpPr/>
          <p:nvPr/>
        </p:nvSpPr>
        <p:spPr>
          <a:xfrm>
            <a:off x="10333077" y="4529614"/>
            <a:ext cx="3538776" cy="700564"/>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E5DCE6"/>
                </a:solidFill>
                <a:latin typeface="Montserrat" pitchFamily="34" charset="0"/>
                <a:ea typeface="Montserrat" pitchFamily="34" charset="-122"/>
                <a:cs typeface="Montserrat" pitchFamily="34" charset="-120"/>
              </a:rPr>
              <a:t>End-to-end testing and validation</a:t>
            </a:r>
            <a:endParaRPr lang="en-US" sz="1700" dirty="0"/>
          </a:p>
        </p:txBody>
      </p:sp>
      <p:sp>
        <p:nvSpPr>
          <p:cNvPr id="12" name="Text 8"/>
          <p:cNvSpPr/>
          <p:nvPr/>
        </p:nvSpPr>
        <p:spPr>
          <a:xfrm>
            <a:off x="10333077" y="5306735"/>
            <a:ext cx="3538776" cy="700564"/>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E5DCE6"/>
                </a:solidFill>
                <a:latin typeface="Montserrat" pitchFamily="34" charset="0"/>
                <a:ea typeface="Montserrat" pitchFamily="34" charset="-122"/>
                <a:cs typeface="Montserrat" pitchFamily="34" charset="-120"/>
              </a:rPr>
              <a:t>System stability and reliability</a:t>
            </a:r>
            <a:endParaRPr lang="en-US" sz="1700" dirty="0"/>
          </a:p>
        </p:txBody>
      </p:sp>
      <p:sp>
        <p:nvSpPr>
          <p:cNvPr id="13" name="Text 9"/>
          <p:cNvSpPr/>
          <p:nvPr/>
        </p:nvSpPr>
        <p:spPr>
          <a:xfrm>
            <a:off x="10333077" y="6083856"/>
            <a:ext cx="3538776" cy="700564"/>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E5DCE6"/>
                </a:solidFill>
                <a:latin typeface="Montserrat" pitchFamily="34" charset="0"/>
                <a:ea typeface="Montserrat" pitchFamily="34" charset="-122"/>
                <a:cs typeface="Montserrat" pitchFamily="34" charset="-120"/>
              </a:rPr>
              <a:t>Deployment preparation and documentation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5982176" y="390287"/>
            <a:ext cx="5479971" cy="442674"/>
          </a:xfrm>
          <a:prstGeom prst="rect">
            <a:avLst/>
          </a:prstGeom>
          <a:noFill/>
          <a:ln/>
        </p:spPr>
        <p:txBody>
          <a:bodyPr wrap="none" lIns="0" tIns="0" rIns="0" bIns="0" rtlCol="0" anchor="t"/>
          <a:lstStyle/>
          <a:p>
            <a:pPr algn="l" indent="0" marL="0">
              <a:lnSpc>
                <a:spcPts val="3450"/>
              </a:lnSpc>
              <a:buNone/>
            </a:pPr>
            <a:r>
              <a:rPr lang="en-US" sz="2750" b="1" dirty="0">
                <a:solidFill>
                  <a:srgbClr val="EEAEF6"/>
                </a:solidFill>
                <a:latin typeface="Bricolage Grotesque Extra Bold" pitchFamily="34" charset="0"/>
                <a:ea typeface="Bricolage Grotesque Extra Bold" pitchFamily="34" charset="-122"/>
                <a:cs typeface="Bricolage Grotesque Extra Bold" pitchFamily="34" charset="-120"/>
              </a:rPr>
              <a:t>Data Accuracy &amp; Time Handling</a:t>
            </a:r>
            <a:endParaRPr lang="en-US" sz="2750" dirty="0"/>
          </a:p>
        </p:txBody>
      </p:sp>
      <p:sp>
        <p:nvSpPr>
          <p:cNvPr id="4" name="Shape 1"/>
          <p:cNvSpPr/>
          <p:nvPr/>
        </p:nvSpPr>
        <p:spPr>
          <a:xfrm>
            <a:off x="5982176" y="1045369"/>
            <a:ext cx="8152448" cy="1382435"/>
          </a:xfrm>
          <a:prstGeom prst="roundRect">
            <a:avLst>
              <a:gd name="adj" fmla="val 4304"/>
            </a:avLst>
          </a:prstGeom>
          <a:solidFill>
            <a:srgbClr val="282D5E"/>
          </a:solidFill>
          <a:ln/>
        </p:spPr>
      </p:sp>
      <p:sp>
        <p:nvSpPr>
          <p:cNvPr id="5" name="Shape 2"/>
          <p:cNvSpPr/>
          <p:nvPr/>
        </p:nvSpPr>
        <p:spPr>
          <a:xfrm>
            <a:off x="6123742" y="1186934"/>
            <a:ext cx="424934" cy="424934"/>
          </a:xfrm>
          <a:prstGeom prst="roundRect">
            <a:avLst>
              <a:gd name="adj" fmla="val 21516484"/>
            </a:avLst>
          </a:prstGeom>
          <a:solidFill>
            <a:srgbClr val="EEAEF6"/>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40542" y="1303734"/>
            <a:ext cx="191214" cy="191214"/>
          </a:xfrm>
          <a:prstGeom prst="rect">
            <a:avLst/>
          </a:prstGeom>
        </p:spPr>
      </p:pic>
      <p:sp>
        <p:nvSpPr>
          <p:cNvPr id="7" name="Text 3"/>
          <p:cNvSpPr/>
          <p:nvPr/>
        </p:nvSpPr>
        <p:spPr>
          <a:xfrm>
            <a:off x="6123742" y="1753433"/>
            <a:ext cx="1770817" cy="221218"/>
          </a:xfrm>
          <a:prstGeom prst="rect">
            <a:avLst/>
          </a:prstGeom>
          <a:noFill/>
          <a:ln/>
        </p:spPr>
        <p:txBody>
          <a:bodyPr wrap="none" lIns="0" tIns="0" rIns="0" bIns="0" rtlCol="0" anchor="t"/>
          <a:lstStyle/>
          <a:p>
            <a:pPr algn="l" indent="0" marL="0">
              <a:lnSpc>
                <a:spcPts val="1700"/>
              </a:lnSpc>
              <a:buNone/>
            </a:pPr>
            <a:r>
              <a:rPr lang="en-US" sz="1350" b="1" dirty="0">
                <a:solidFill>
                  <a:srgbClr val="E5DCE6"/>
                </a:solidFill>
                <a:latin typeface="Bricolage Grotesque Extra Bold" pitchFamily="34" charset="0"/>
                <a:ea typeface="Bricolage Grotesque Extra Bold" pitchFamily="34" charset="-122"/>
                <a:cs typeface="Bricolage Grotesque Extra Bold" pitchFamily="34" charset="-120"/>
              </a:rPr>
              <a:t>Real-Time Hours</a:t>
            </a:r>
            <a:endParaRPr lang="en-US" sz="1350" dirty="0"/>
          </a:p>
        </p:txBody>
      </p:sp>
      <p:sp>
        <p:nvSpPr>
          <p:cNvPr id="8" name="Text 4"/>
          <p:cNvSpPr/>
          <p:nvPr/>
        </p:nvSpPr>
        <p:spPr>
          <a:xfrm>
            <a:off x="6123742" y="2059543"/>
            <a:ext cx="7869317" cy="226695"/>
          </a:xfrm>
          <a:prstGeom prst="rect">
            <a:avLst/>
          </a:prstGeom>
          <a:noFill/>
          <a:ln/>
        </p:spPr>
        <p:txBody>
          <a:bodyPr wrap="none" lIns="0" tIns="0" rIns="0" bIns="0" rtlCol="0" anchor="t"/>
          <a:lstStyle/>
          <a:p>
            <a:pPr algn="l" indent="0" marL="0">
              <a:lnSpc>
                <a:spcPts val="1750"/>
              </a:lnSpc>
              <a:buNone/>
            </a:pPr>
            <a:r>
              <a:rPr lang="en-US" sz="1100" dirty="0">
                <a:solidFill>
                  <a:srgbClr val="E5DCE6"/>
                </a:solidFill>
                <a:latin typeface="Montserrat" pitchFamily="34" charset="0"/>
                <a:ea typeface="Montserrat" pitchFamily="34" charset="-122"/>
                <a:cs typeface="Montserrat" pitchFamily="34" charset="-120"/>
              </a:rPr>
              <a:t>Precise hourly tracking synchronized with live AQI measurements for up-to-the-minute accuracy</a:t>
            </a:r>
            <a:endParaRPr lang="en-US" sz="1100" dirty="0"/>
          </a:p>
        </p:txBody>
      </p:sp>
      <p:sp>
        <p:nvSpPr>
          <p:cNvPr id="9" name="Shape 5"/>
          <p:cNvSpPr/>
          <p:nvPr/>
        </p:nvSpPr>
        <p:spPr>
          <a:xfrm>
            <a:off x="5982176" y="2569369"/>
            <a:ext cx="8152448" cy="1382435"/>
          </a:xfrm>
          <a:prstGeom prst="roundRect">
            <a:avLst>
              <a:gd name="adj" fmla="val 4304"/>
            </a:avLst>
          </a:prstGeom>
          <a:solidFill>
            <a:srgbClr val="282D5E"/>
          </a:solidFill>
          <a:ln/>
        </p:spPr>
      </p:sp>
      <p:sp>
        <p:nvSpPr>
          <p:cNvPr id="10" name="Shape 6"/>
          <p:cNvSpPr/>
          <p:nvPr/>
        </p:nvSpPr>
        <p:spPr>
          <a:xfrm>
            <a:off x="6123742" y="2710934"/>
            <a:ext cx="424934" cy="424934"/>
          </a:xfrm>
          <a:prstGeom prst="roundRect">
            <a:avLst>
              <a:gd name="adj" fmla="val 21516484"/>
            </a:avLst>
          </a:prstGeom>
          <a:solidFill>
            <a:srgbClr val="EEAEF6"/>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0542" y="2827734"/>
            <a:ext cx="191214" cy="191214"/>
          </a:xfrm>
          <a:prstGeom prst="rect">
            <a:avLst/>
          </a:prstGeom>
        </p:spPr>
      </p:pic>
      <p:sp>
        <p:nvSpPr>
          <p:cNvPr id="12" name="Text 7"/>
          <p:cNvSpPr/>
          <p:nvPr/>
        </p:nvSpPr>
        <p:spPr>
          <a:xfrm>
            <a:off x="6123742" y="3277433"/>
            <a:ext cx="1770817" cy="221218"/>
          </a:xfrm>
          <a:prstGeom prst="rect">
            <a:avLst/>
          </a:prstGeom>
          <a:noFill/>
          <a:ln/>
        </p:spPr>
        <p:txBody>
          <a:bodyPr wrap="none" lIns="0" tIns="0" rIns="0" bIns="0" rtlCol="0" anchor="t"/>
          <a:lstStyle/>
          <a:p>
            <a:pPr algn="l" indent="0" marL="0">
              <a:lnSpc>
                <a:spcPts val="1700"/>
              </a:lnSpc>
              <a:buNone/>
            </a:pPr>
            <a:r>
              <a:rPr lang="en-US" sz="1350" b="1" dirty="0">
                <a:solidFill>
                  <a:srgbClr val="E5DCE6"/>
                </a:solidFill>
                <a:latin typeface="Bricolage Grotesque Extra Bold" pitchFamily="34" charset="0"/>
                <a:ea typeface="Bricolage Grotesque Extra Bold" pitchFamily="34" charset="-122"/>
                <a:cs typeface="Bricolage Grotesque Extra Bold" pitchFamily="34" charset="-120"/>
              </a:rPr>
              <a:t>Weekday Display</a:t>
            </a:r>
            <a:endParaRPr lang="en-US" sz="1350" dirty="0"/>
          </a:p>
        </p:txBody>
      </p:sp>
      <p:sp>
        <p:nvSpPr>
          <p:cNvPr id="13" name="Text 8"/>
          <p:cNvSpPr/>
          <p:nvPr/>
        </p:nvSpPr>
        <p:spPr>
          <a:xfrm>
            <a:off x="6123742" y="3583543"/>
            <a:ext cx="7869317" cy="226695"/>
          </a:xfrm>
          <a:prstGeom prst="rect">
            <a:avLst/>
          </a:prstGeom>
          <a:noFill/>
          <a:ln/>
        </p:spPr>
        <p:txBody>
          <a:bodyPr wrap="none" lIns="0" tIns="0" rIns="0" bIns="0" rtlCol="0" anchor="t"/>
          <a:lstStyle/>
          <a:p>
            <a:pPr algn="l" indent="0" marL="0">
              <a:lnSpc>
                <a:spcPts val="1750"/>
              </a:lnSpc>
              <a:buNone/>
            </a:pPr>
            <a:r>
              <a:rPr lang="en-US" sz="1100" dirty="0">
                <a:solidFill>
                  <a:srgbClr val="E5DCE6"/>
                </a:solidFill>
                <a:latin typeface="Montserrat" pitchFamily="34" charset="0"/>
                <a:ea typeface="Montserrat" pitchFamily="34" charset="-122"/>
                <a:cs typeface="Montserrat" pitchFamily="34" charset="-120"/>
              </a:rPr>
              <a:t>Clear weekday labels help users identify patterns and trends across different days</a:t>
            </a:r>
            <a:endParaRPr lang="en-US" sz="1100" dirty="0"/>
          </a:p>
        </p:txBody>
      </p:sp>
      <p:sp>
        <p:nvSpPr>
          <p:cNvPr id="14" name="Shape 9"/>
          <p:cNvSpPr/>
          <p:nvPr/>
        </p:nvSpPr>
        <p:spPr>
          <a:xfrm>
            <a:off x="5982176" y="4093369"/>
            <a:ext cx="8152448" cy="1382435"/>
          </a:xfrm>
          <a:prstGeom prst="roundRect">
            <a:avLst>
              <a:gd name="adj" fmla="val 4304"/>
            </a:avLst>
          </a:prstGeom>
          <a:solidFill>
            <a:srgbClr val="282D5E"/>
          </a:solidFill>
          <a:ln/>
        </p:spPr>
      </p:sp>
      <p:sp>
        <p:nvSpPr>
          <p:cNvPr id="15" name="Shape 10"/>
          <p:cNvSpPr/>
          <p:nvPr/>
        </p:nvSpPr>
        <p:spPr>
          <a:xfrm>
            <a:off x="6123742" y="4234934"/>
            <a:ext cx="424934" cy="424934"/>
          </a:xfrm>
          <a:prstGeom prst="roundRect">
            <a:avLst>
              <a:gd name="adj" fmla="val 21516484"/>
            </a:avLst>
          </a:prstGeom>
          <a:solidFill>
            <a:srgbClr val="EEAEF6"/>
          </a:solidFill>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40542" y="4351734"/>
            <a:ext cx="191214" cy="191214"/>
          </a:xfrm>
          <a:prstGeom prst="rect">
            <a:avLst/>
          </a:prstGeom>
        </p:spPr>
      </p:pic>
      <p:sp>
        <p:nvSpPr>
          <p:cNvPr id="17" name="Text 11"/>
          <p:cNvSpPr/>
          <p:nvPr/>
        </p:nvSpPr>
        <p:spPr>
          <a:xfrm>
            <a:off x="6123742" y="4801433"/>
            <a:ext cx="1770817" cy="221218"/>
          </a:xfrm>
          <a:prstGeom prst="rect">
            <a:avLst/>
          </a:prstGeom>
          <a:noFill/>
          <a:ln/>
        </p:spPr>
        <p:txBody>
          <a:bodyPr wrap="none" lIns="0" tIns="0" rIns="0" bIns="0" rtlCol="0" anchor="t"/>
          <a:lstStyle/>
          <a:p>
            <a:pPr algn="l" indent="0" marL="0">
              <a:lnSpc>
                <a:spcPts val="1700"/>
              </a:lnSpc>
              <a:buNone/>
            </a:pPr>
            <a:r>
              <a:rPr lang="en-US" sz="1350" b="1" dirty="0">
                <a:solidFill>
                  <a:srgbClr val="E5DCE6"/>
                </a:solidFill>
                <a:latin typeface="Bricolage Grotesque Extra Bold" pitchFamily="34" charset="0"/>
                <a:ea typeface="Bricolage Grotesque Extra Bold" pitchFamily="34" charset="-122"/>
                <a:cs typeface="Bricolage Grotesque Extra Bold" pitchFamily="34" charset="-120"/>
              </a:rPr>
              <a:t>Monthly Tracking</a:t>
            </a:r>
            <a:endParaRPr lang="en-US" sz="1350" dirty="0"/>
          </a:p>
        </p:txBody>
      </p:sp>
      <p:sp>
        <p:nvSpPr>
          <p:cNvPr id="18" name="Text 12"/>
          <p:cNvSpPr/>
          <p:nvPr/>
        </p:nvSpPr>
        <p:spPr>
          <a:xfrm>
            <a:off x="6123742" y="5107543"/>
            <a:ext cx="7869317" cy="226695"/>
          </a:xfrm>
          <a:prstGeom prst="rect">
            <a:avLst/>
          </a:prstGeom>
          <a:noFill/>
          <a:ln/>
        </p:spPr>
        <p:txBody>
          <a:bodyPr wrap="none" lIns="0" tIns="0" rIns="0" bIns="0" rtlCol="0" anchor="t"/>
          <a:lstStyle/>
          <a:p>
            <a:pPr algn="l" indent="0" marL="0">
              <a:lnSpc>
                <a:spcPts val="1750"/>
              </a:lnSpc>
              <a:buNone/>
            </a:pPr>
            <a:r>
              <a:rPr lang="en-US" sz="1100" dirty="0">
                <a:solidFill>
                  <a:srgbClr val="E5DCE6"/>
                </a:solidFill>
                <a:latin typeface="Montserrat" pitchFamily="34" charset="0"/>
                <a:ea typeface="Montserrat" pitchFamily="34" charset="-122"/>
                <a:cs typeface="Montserrat" pitchFamily="34" charset="-120"/>
              </a:rPr>
              <a:t>Month-wise organization enables seasonal analysis and long-term trend identification</a:t>
            </a:r>
            <a:endParaRPr lang="en-US" sz="1100" dirty="0"/>
          </a:p>
        </p:txBody>
      </p:sp>
      <p:sp>
        <p:nvSpPr>
          <p:cNvPr id="19" name="Shape 13"/>
          <p:cNvSpPr/>
          <p:nvPr/>
        </p:nvSpPr>
        <p:spPr>
          <a:xfrm>
            <a:off x="5982176" y="5617369"/>
            <a:ext cx="8152448" cy="1382435"/>
          </a:xfrm>
          <a:prstGeom prst="roundRect">
            <a:avLst>
              <a:gd name="adj" fmla="val 4304"/>
            </a:avLst>
          </a:prstGeom>
          <a:solidFill>
            <a:srgbClr val="282D5E"/>
          </a:solidFill>
          <a:ln/>
        </p:spPr>
      </p:sp>
      <p:sp>
        <p:nvSpPr>
          <p:cNvPr id="20" name="Shape 14"/>
          <p:cNvSpPr/>
          <p:nvPr/>
        </p:nvSpPr>
        <p:spPr>
          <a:xfrm>
            <a:off x="6123742" y="5758934"/>
            <a:ext cx="424934" cy="424934"/>
          </a:xfrm>
          <a:prstGeom prst="roundRect">
            <a:avLst>
              <a:gd name="adj" fmla="val 21516484"/>
            </a:avLst>
          </a:prstGeom>
          <a:solidFill>
            <a:srgbClr val="EEAEF6"/>
          </a:solidFill>
          <a:ln/>
        </p:spPr>
      </p:sp>
      <p:pic>
        <p:nvPicPr>
          <p:cNvPr id="2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40542" y="5875734"/>
            <a:ext cx="191214" cy="191214"/>
          </a:xfrm>
          <a:prstGeom prst="rect">
            <a:avLst/>
          </a:prstGeom>
        </p:spPr>
      </p:pic>
      <p:sp>
        <p:nvSpPr>
          <p:cNvPr id="22" name="Text 15"/>
          <p:cNvSpPr/>
          <p:nvPr/>
        </p:nvSpPr>
        <p:spPr>
          <a:xfrm>
            <a:off x="6123742" y="6325433"/>
            <a:ext cx="1770817" cy="221218"/>
          </a:xfrm>
          <a:prstGeom prst="rect">
            <a:avLst/>
          </a:prstGeom>
          <a:noFill/>
          <a:ln/>
        </p:spPr>
        <p:txBody>
          <a:bodyPr wrap="none" lIns="0" tIns="0" rIns="0" bIns="0" rtlCol="0" anchor="t"/>
          <a:lstStyle/>
          <a:p>
            <a:pPr algn="l" indent="0" marL="0">
              <a:lnSpc>
                <a:spcPts val="1700"/>
              </a:lnSpc>
              <a:buNone/>
            </a:pPr>
            <a:r>
              <a:rPr lang="en-US" sz="1350" b="1" dirty="0">
                <a:solidFill>
                  <a:srgbClr val="E5DCE6"/>
                </a:solidFill>
                <a:latin typeface="Bricolage Grotesque Extra Bold" pitchFamily="34" charset="0"/>
                <a:ea typeface="Bricolage Grotesque Extra Bold" pitchFamily="34" charset="-122"/>
                <a:cs typeface="Bricolage Grotesque Extra Bold" pitchFamily="34" charset="-120"/>
              </a:rPr>
              <a:t>Annual Overview</a:t>
            </a:r>
            <a:endParaRPr lang="en-US" sz="1350" dirty="0"/>
          </a:p>
        </p:txBody>
      </p:sp>
      <p:sp>
        <p:nvSpPr>
          <p:cNvPr id="23" name="Text 16"/>
          <p:cNvSpPr/>
          <p:nvPr/>
        </p:nvSpPr>
        <p:spPr>
          <a:xfrm>
            <a:off x="6123742" y="6631543"/>
            <a:ext cx="7869317" cy="226695"/>
          </a:xfrm>
          <a:prstGeom prst="rect">
            <a:avLst/>
          </a:prstGeom>
          <a:noFill/>
          <a:ln/>
        </p:spPr>
        <p:txBody>
          <a:bodyPr wrap="none" lIns="0" tIns="0" rIns="0" bIns="0" rtlCol="0" anchor="t"/>
          <a:lstStyle/>
          <a:p>
            <a:pPr algn="l" indent="0" marL="0">
              <a:lnSpc>
                <a:spcPts val="1750"/>
              </a:lnSpc>
              <a:buNone/>
            </a:pPr>
            <a:r>
              <a:rPr lang="en-US" sz="1100" dirty="0">
                <a:solidFill>
                  <a:srgbClr val="E5DCE6"/>
                </a:solidFill>
                <a:latin typeface="Montserrat" pitchFamily="34" charset="0"/>
                <a:ea typeface="Montserrat" pitchFamily="34" charset="-122"/>
                <a:cs typeface="Montserrat" pitchFamily="34" charset="-120"/>
              </a:rPr>
              <a:t>Year labels support historical comparisons and multi-year data analysis</a:t>
            </a:r>
            <a:endParaRPr lang="en-US" sz="1100" dirty="0"/>
          </a:p>
        </p:txBody>
      </p:sp>
      <p:sp>
        <p:nvSpPr>
          <p:cNvPr id="24" name="Text 17"/>
          <p:cNvSpPr/>
          <p:nvPr/>
        </p:nvSpPr>
        <p:spPr>
          <a:xfrm>
            <a:off x="5982176" y="7159109"/>
            <a:ext cx="8152448" cy="680085"/>
          </a:xfrm>
          <a:prstGeom prst="rect">
            <a:avLst/>
          </a:prstGeom>
          <a:noFill/>
          <a:ln/>
        </p:spPr>
        <p:txBody>
          <a:bodyPr wrap="square" lIns="0" tIns="0" rIns="0" bIns="0" rtlCol="0" anchor="t"/>
          <a:lstStyle/>
          <a:p>
            <a:pPr algn="l" indent="0" marL="0">
              <a:lnSpc>
                <a:spcPts val="1750"/>
              </a:lnSpc>
              <a:buNone/>
            </a:pPr>
            <a:r>
              <a:rPr lang="en-US" sz="1100" dirty="0">
                <a:solidFill>
                  <a:srgbClr val="E5DCE6"/>
                </a:solidFill>
                <a:latin typeface="Montserrat" pitchFamily="34" charset="0"/>
                <a:ea typeface="Montserrat" pitchFamily="34" charset="-122"/>
                <a:cs typeface="Montserrat" pitchFamily="34" charset="-120"/>
              </a:rPr>
              <a:t>All date and time labels have been meticulously fixed across the dashboard, ensuring accurate alignment of AQI data with corresponding timelines. This enhancement significantly improves data clarity, reliability, and user confidence in the displayed information.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2443" y="387429"/>
            <a:ext cx="5197673" cy="439698"/>
          </a:xfrm>
          <a:prstGeom prst="rect">
            <a:avLst/>
          </a:prstGeom>
          <a:noFill/>
          <a:ln/>
        </p:spPr>
        <p:txBody>
          <a:bodyPr wrap="none" lIns="0" tIns="0" rIns="0" bIns="0" rtlCol="0" anchor="t"/>
          <a:lstStyle/>
          <a:p>
            <a:pPr algn="l" indent="0" marL="0">
              <a:lnSpc>
                <a:spcPts val="3450"/>
              </a:lnSpc>
              <a:buNone/>
            </a:pPr>
            <a:r>
              <a:rPr lang="en-US" sz="2750" b="1" dirty="0">
                <a:solidFill>
                  <a:srgbClr val="EEAEF6"/>
                </a:solidFill>
                <a:latin typeface="Bricolage Grotesque Extra Bold" pitchFamily="34" charset="0"/>
                <a:ea typeface="Bricolage Grotesque Extra Bold" pitchFamily="34" charset="-122"/>
                <a:cs typeface="Bricolage Grotesque Extra Bold" pitchFamily="34" charset="-120"/>
              </a:rPr>
              <a:t>Analytics &amp; State Comparison</a:t>
            </a:r>
            <a:endParaRPr lang="en-US" sz="2750" dirty="0"/>
          </a:p>
        </p:txBody>
      </p:sp>
      <p:sp>
        <p:nvSpPr>
          <p:cNvPr id="3" name="Text 1"/>
          <p:cNvSpPr/>
          <p:nvPr/>
        </p:nvSpPr>
        <p:spPr>
          <a:xfrm>
            <a:off x="492443" y="1249085"/>
            <a:ext cx="2055257" cy="219789"/>
          </a:xfrm>
          <a:prstGeom prst="rect">
            <a:avLst/>
          </a:prstGeom>
          <a:noFill/>
          <a:ln/>
        </p:spPr>
        <p:txBody>
          <a:bodyPr wrap="none" lIns="0" tIns="0" rIns="0" bIns="0" rtlCol="0" anchor="t"/>
          <a:lstStyle/>
          <a:p>
            <a:pPr algn="l" indent="0" marL="0">
              <a:lnSpc>
                <a:spcPts val="1700"/>
              </a:lnSpc>
              <a:buNone/>
            </a:pPr>
            <a:r>
              <a:rPr lang="en-US" sz="1350" b="1" dirty="0">
                <a:solidFill>
                  <a:srgbClr val="E5DCE6"/>
                </a:solidFill>
                <a:latin typeface="Bricolage Grotesque Extra Bold" pitchFamily="34" charset="0"/>
                <a:ea typeface="Bricolage Grotesque Extra Bold" pitchFamily="34" charset="-122"/>
                <a:cs typeface="Bricolage Grotesque Extra Bold" pitchFamily="34" charset="-120"/>
              </a:rPr>
              <a:t>State-Wise Comparison</a:t>
            </a:r>
            <a:endParaRPr lang="en-US" sz="1350" dirty="0"/>
          </a:p>
        </p:txBody>
      </p:sp>
      <p:sp>
        <p:nvSpPr>
          <p:cNvPr id="4" name="Text 2"/>
          <p:cNvSpPr/>
          <p:nvPr/>
        </p:nvSpPr>
        <p:spPr>
          <a:xfrm>
            <a:off x="492443" y="1553289"/>
            <a:ext cx="6734770" cy="450294"/>
          </a:xfrm>
          <a:prstGeom prst="rect">
            <a:avLst/>
          </a:prstGeom>
          <a:noFill/>
          <a:ln/>
        </p:spPr>
        <p:txBody>
          <a:bodyPr wrap="square" lIns="0" tIns="0" rIns="0" bIns="0" rtlCol="0" anchor="t"/>
          <a:lstStyle/>
          <a:p>
            <a:pPr algn="l" indent="0" marL="0">
              <a:lnSpc>
                <a:spcPts val="1750"/>
              </a:lnSpc>
              <a:buNone/>
            </a:pPr>
            <a:r>
              <a:rPr lang="en-US" sz="1100" dirty="0">
                <a:solidFill>
                  <a:srgbClr val="E5DCE6"/>
                </a:solidFill>
                <a:latin typeface="Montserrat" pitchFamily="34" charset="0"/>
                <a:ea typeface="Montserrat" pitchFamily="34" charset="-122"/>
                <a:cs typeface="Montserrat" pitchFamily="34" charset="-120"/>
              </a:rPr>
              <a:t>Real-time AQI values from multiple states displayed side-by-side for instant regional analysis and comparison</a:t>
            </a:r>
            <a:endParaRPr lang="en-US" sz="1100" dirty="0"/>
          </a:p>
        </p:txBody>
      </p:sp>
      <p:sp>
        <p:nvSpPr>
          <p:cNvPr id="5" name="Text 3"/>
          <p:cNvSpPr/>
          <p:nvPr/>
        </p:nvSpPr>
        <p:spPr>
          <a:xfrm>
            <a:off x="7403068" y="1249085"/>
            <a:ext cx="2155388" cy="219789"/>
          </a:xfrm>
          <a:prstGeom prst="rect">
            <a:avLst/>
          </a:prstGeom>
          <a:noFill/>
          <a:ln/>
        </p:spPr>
        <p:txBody>
          <a:bodyPr wrap="none" lIns="0" tIns="0" rIns="0" bIns="0" rtlCol="0" anchor="t"/>
          <a:lstStyle/>
          <a:p>
            <a:pPr algn="l" indent="0" marL="0">
              <a:lnSpc>
                <a:spcPts val="1700"/>
              </a:lnSpc>
              <a:buNone/>
            </a:pPr>
            <a:r>
              <a:rPr lang="en-US" sz="1350" b="1" dirty="0">
                <a:solidFill>
                  <a:srgbClr val="E5DCE6"/>
                </a:solidFill>
                <a:latin typeface="Bricolage Grotesque Extra Bold" pitchFamily="34" charset="0"/>
                <a:ea typeface="Bricolage Grotesque Extra Bold" pitchFamily="34" charset="-122"/>
                <a:cs typeface="Bricolage Grotesque Extra Bold" pitchFamily="34" charset="-120"/>
              </a:rPr>
              <a:t>Live Backend Integration</a:t>
            </a:r>
            <a:endParaRPr lang="en-US" sz="1350" dirty="0"/>
          </a:p>
        </p:txBody>
      </p:sp>
      <p:sp>
        <p:nvSpPr>
          <p:cNvPr id="6" name="Text 4"/>
          <p:cNvSpPr/>
          <p:nvPr/>
        </p:nvSpPr>
        <p:spPr>
          <a:xfrm>
            <a:off x="7403068" y="1553289"/>
            <a:ext cx="6734889" cy="450294"/>
          </a:xfrm>
          <a:prstGeom prst="rect">
            <a:avLst/>
          </a:prstGeom>
          <a:noFill/>
          <a:ln/>
        </p:spPr>
        <p:txBody>
          <a:bodyPr wrap="square" lIns="0" tIns="0" rIns="0" bIns="0" rtlCol="0" anchor="t"/>
          <a:lstStyle/>
          <a:p>
            <a:pPr algn="l" indent="0" marL="0">
              <a:lnSpc>
                <a:spcPts val="1750"/>
              </a:lnSpc>
              <a:buNone/>
            </a:pPr>
            <a:r>
              <a:rPr lang="en-US" sz="1100" dirty="0">
                <a:solidFill>
                  <a:srgbClr val="E5DCE6"/>
                </a:solidFill>
                <a:latin typeface="Montserrat" pitchFamily="34" charset="0"/>
                <a:ea typeface="Montserrat" pitchFamily="34" charset="-122"/>
                <a:cs typeface="Montserrat" pitchFamily="34" charset="-120"/>
              </a:rPr>
              <a:t>Analytics section now fully connected to live backend systems, ensuring data freshness and accuracy at all times</a:t>
            </a:r>
            <a:endParaRPr lang="en-US" sz="1100" dirty="0"/>
          </a:p>
        </p:txBody>
      </p:sp>
      <p:sp>
        <p:nvSpPr>
          <p:cNvPr id="7" name="Text 5"/>
          <p:cNvSpPr/>
          <p:nvPr/>
        </p:nvSpPr>
        <p:spPr>
          <a:xfrm>
            <a:off x="492443" y="2302431"/>
            <a:ext cx="1941671" cy="219789"/>
          </a:xfrm>
          <a:prstGeom prst="rect">
            <a:avLst/>
          </a:prstGeom>
          <a:noFill/>
          <a:ln/>
        </p:spPr>
        <p:txBody>
          <a:bodyPr wrap="none" lIns="0" tIns="0" rIns="0" bIns="0" rtlCol="0" anchor="t"/>
          <a:lstStyle/>
          <a:p>
            <a:pPr algn="l" indent="0" marL="0">
              <a:lnSpc>
                <a:spcPts val="1700"/>
              </a:lnSpc>
              <a:buNone/>
            </a:pPr>
            <a:r>
              <a:rPr lang="en-US" sz="1350" b="1" dirty="0">
                <a:solidFill>
                  <a:srgbClr val="EEAEF6"/>
                </a:solidFill>
                <a:latin typeface="Bricolage Grotesque Extra Bold" pitchFamily="34" charset="0"/>
                <a:ea typeface="Bricolage Grotesque Extra Bold" pitchFamily="34" charset="-122"/>
                <a:cs typeface="Bricolage Grotesque Extra Bold" pitchFamily="34" charset="-120"/>
              </a:rPr>
              <a:t>Enhanced Capabilities</a:t>
            </a:r>
            <a:endParaRPr lang="en-US" sz="1350" dirty="0"/>
          </a:p>
        </p:txBody>
      </p:sp>
      <p:sp>
        <p:nvSpPr>
          <p:cNvPr id="8" name="Text 6"/>
          <p:cNvSpPr/>
          <p:nvPr/>
        </p:nvSpPr>
        <p:spPr>
          <a:xfrm>
            <a:off x="492443" y="2662833"/>
            <a:ext cx="8050054" cy="675442"/>
          </a:xfrm>
          <a:prstGeom prst="rect">
            <a:avLst/>
          </a:prstGeom>
          <a:noFill/>
          <a:ln/>
        </p:spPr>
        <p:txBody>
          <a:bodyPr wrap="square" lIns="0" tIns="0" rIns="0" bIns="0" rtlCol="0" anchor="t"/>
          <a:lstStyle/>
          <a:p>
            <a:pPr algn="l" indent="0" marL="0">
              <a:lnSpc>
                <a:spcPts val="1750"/>
              </a:lnSpc>
              <a:buNone/>
            </a:pPr>
            <a:r>
              <a:rPr lang="en-US" sz="1100" dirty="0">
                <a:solidFill>
                  <a:srgbClr val="E5DCE6"/>
                </a:solidFill>
                <a:latin typeface="Montserrat" pitchFamily="34" charset="0"/>
                <a:ea typeface="Montserrat" pitchFamily="34" charset="-122"/>
                <a:cs typeface="Montserrat" pitchFamily="34" charset="-120"/>
              </a:rPr>
              <a:t>The analytics module now provides comprehensive state-wise AQI comparison using real-time values pulled directly from monitoring stations. Users can quickly identify which regions are experiencing poor air quality and make informed decisions accordingly.</a:t>
            </a:r>
            <a:endParaRPr lang="en-US" sz="1100" dirty="0"/>
          </a:p>
        </p:txBody>
      </p:sp>
      <p:sp>
        <p:nvSpPr>
          <p:cNvPr id="9" name="Text 7"/>
          <p:cNvSpPr/>
          <p:nvPr/>
        </p:nvSpPr>
        <p:spPr>
          <a:xfrm>
            <a:off x="10653951" y="3234571"/>
            <a:ext cx="1730693" cy="351711"/>
          </a:xfrm>
          <a:prstGeom prst="rect">
            <a:avLst/>
          </a:prstGeom>
          <a:noFill/>
          <a:ln/>
        </p:spPr>
        <p:txBody>
          <a:bodyPr wrap="none" lIns="0" tIns="0" rIns="0" bIns="0" rtlCol="0" anchor="t"/>
          <a:lstStyle/>
          <a:p>
            <a:pPr algn="ctr" indent="0" marL="0">
              <a:lnSpc>
                <a:spcPts val="2750"/>
              </a:lnSpc>
              <a:buNone/>
            </a:pPr>
            <a:r>
              <a:rPr lang="en-US" sz="2750" b="1" dirty="0">
                <a:solidFill>
                  <a:srgbClr val="E5DCE6"/>
                </a:solidFill>
                <a:latin typeface="Bricolage Grotesque Extra Bold" pitchFamily="34" charset="0"/>
                <a:ea typeface="Bricolage Grotesque Extra Bold" pitchFamily="34" charset="-122"/>
                <a:cs typeface="Bricolage Grotesque Extra Bold" pitchFamily="34" charset="-120"/>
              </a:rPr>
              <a:t>100%</a:t>
            </a:r>
            <a:endParaRPr lang="en-US" sz="2750" dirty="0"/>
          </a:p>
        </p:txBody>
      </p:sp>
      <p:pic>
        <p:nvPicPr>
          <p:cNvPr id="10" name="Image 0" descr="preencoded.png">    </p:cNvPr>
          <p:cNvPicPr>
            <a:picLocks noChangeAspect="1"/>
          </p:cNvPicPr>
          <p:nvPr/>
        </p:nvPicPr>
        <p:blipFill>
          <a:blip r:embed="rId1"/>
          <a:stretch>
            <a:fillRect/>
          </a:stretch>
        </p:blipFill>
        <p:spPr>
          <a:xfrm>
            <a:off x="10464046" y="2355175"/>
            <a:ext cx="2110621" cy="2110621"/>
          </a:xfrm>
          <a:prstGeom prst="rect">
            <a:avLst/>
          </a:prstGeom>
        </p:spPr>
      </p:pic>
      <p:sp>
        <p:nvSpPr>
          <p:cNvPr id="11" name="Text 8"/>
          <p:cNvSpPr/>
          <p:nvPr/>
        </p:nvSpPr>
        <p:spPr>
          <a:xfrm>
            <a:off x="10640020" y="4641533"/>
            <a:ext cx="1758791" cy="219789"/>
          </a:xfrm>
          <a:prstGeom prst="rect">
            <a:avLst/>
          </a:prstGeom>
          <a:noFill/>
          <a:ln/>
        </p:spPr>
        <p:txBody>
          <a:bodyPr wrap="none" lIns="0" tIns="0" rIns="0" bIns="0" rtlCol="0" anchor="t"/>
          <a:lstStyle/>
          <a:p>
            <a:pPr algn="ctr" indent="0" marL="0">
              <a:lnSpc>
                <a:spcPts val="1700"/>
              </a:lnSpc>
              <a:buNone/>
            </a:pPr>
            <a:r>
              <a:rPr lang="en-US" sz="1350" b="1" dirty="0">
                <a:solidFill>
                  <a:srgbClr val="E5DCE6"/>
                </a:solidFill>
                <a:latin typeface="Bricolage Grotesque Extra Bold" pitchFamily="34" charset="0"/>
                <a:ea typeface="Bricolage Grotesque Extra Bold" pitchFamily="34" charset="-122"/>
                <a:cs typeface="Bricolage Grotesque Extra Bold" pitchFamily="34" charset="-120"/>
              </a:rPr>
              <a:t>Real-Time Data</a:t>
            </a:r>
            <a:endParaRPr lang="en-US" sz="1350" dirty="0"/>
          </a:p>
        </p:txBody>
      </p:sp>
      <p:sp>
        <p:nvSpPr>
          <p:cNvPr id="12" name="Text 9"/>
          <p:cNvSpPr/>
          <p:nvPr/>
        </p:nvSpPr>
        <p:spPr>
          <a:xfrm>
            <a:off x="10653951" y="6057186"/>
            <a:ext cx="1730693" cy="351711"/>
          </a:xfrm>
          <a:prstGeom prst="rect">
            <a:avLst/>
          </a:prstGeom>
          <a:noFill/>
          <a:ln/>
        </p:spPr>
        <p:txBody>
          <a:bodyPr wrap="none" lIns="0" tIns="0" rIns="0" bIns="0" rtlCol="0" anchor="t"/>
          <a:lstStyle/>
          <a:p>
            <a:pPr algn="ctr" indent="0" marL="0">
              <a:lnSpc>
                <a:spcPts val="2750"/>
              </a:lnSpc>
              <a:buNone/>
            </a:pPr>
            <a:r>
              <a:rPr lang="en-US" sz="2750" b="1" dirty="0">
                <a:solidFill>
                  <a:srgbClr val="E5DCE6"/>
                </a:solidFill>
                <a:latin typeface="Bricolage Grotesque Extra Bold" pitchFamily="34" charset="0"/>
                <a:ea typeface="Bricolage Grotesque Extra Bold" pitchFamily="34" charset="-122"/>
                <a:cs typeface="Bricolage Grotesque Extra Bold" pitchFamily="34" charset="-120"/>
              </a:rPr>
              <a:t>50ms</a:t>
            </a:r>
            <a:endParaRPr lang="en-US" sz="2750" dirty="0"/>
          </a:p>
        </p:txBody>
      </p:sp>
      <p:pic>
        <p:nvPicPr>
          <p:cNvPr id="13" name="Image 1" descr="preencoded.png">    </p:cNvPr>
          <p:cNvPicPr>
            <a:picLocks noChangeAspect="1"/>
          </p:cNvPicPr>
          <p:nvPr/>
        </p:nvPicPr>
        <p:blipFill>
          <a:blip r:embed="rId2"/>
          <a:stretch>
            <a:fillRect/>
          </a:stretch>
        </p:blipFill>
        <p:spPr>
          <a:xfrm>
            <a:off x="10464046" y="5177790"/>
            <a:ext cx="2110621" cy="2110621"/>
          </a:xfrm>
          <a:prstGeom prst="rect">
            <a:avLst/>
          </a:prstGeom>
        </p:spPr>
      </p:pic>
      <p:sp>
        <p:nvSpPr>
          <p:cNvPr id="14" name="Text 10"/>
          <p:cNvSpPr/>
          <p:nvPr/>
        </p:nvSpPr>
        <p:spPr>
          <a:xfrm>
            <a:off x="10640020" y="7464147"/>
            <a:ext cx="1758791" cy="219789"/>
          </a:xfrm>
          <a:prstGeom prst="rect">
            <a:avLst/>
          </a:prstGeom>
          <a:noFill/>
          <a:ln/>
        </p:spPr>
        <p:txBody>
          <a:bodyPr wrap="none" lIns="0" tIns="0" rIns="0" bIns="0" rtlCol="0" anchor="t"/>
          <a:lstStyle/>
          <a:p>
            <a:pPr algn="ctr" indent="0" marL="0">
              <a:lnSpc>
                <a:spcPts val="1700"/>
              </a:lnSpc>
              <a:buNone/>
            </a:pPr>
            <a:r>
              <a:rPr lang="en-US" sz="1350" b="1" dirty="0">
                <a:solidFill>
                  <a:srgbClr val="E5DCE6"/>
                </a:solidFill>
                <a:latin typeface="Bricolage Grotesque Extra Bold" pitchFamily="34" charset="0"/>
                <a:ea typeface="Bricolage Grotesque Extra Bold" pitchFamily="34" charset="-122"/>
                <a:cs typeface="Bricolage Grotesque Extra Bold" pitchFamily="34" charset="-120"/>
              </a:rPr>
              <a:t>Avg Response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662107" y="770334"/>
            <a:ext cx="6950631" cy="591145"/>
          </a:xfrm>
          <a:prstGeom prst="rect">
            <a:avLst/>
          </a:prstGeom>
          <a:noFill/>
          <a:ln/>
        </p:spPr>
        <p:txBody>
          <a:bodyPr wrap="none" lIns="0" tIns="0" rIns="0" bIns="0" rtlCol="0" anchor="t"/>
          <a:lstStyle/>
          <a:p>
            <a:pPr algn="l" indent="0" marL="0">
              <a:lnSpc>
                <a:spcPts val="4650"/>
              </a:lnSpc>
              <a:buNone/>
            </a:pPr>
            <a:r>
              <a:rPr lang="en-US" sz="3700" b="1" dirty="0">
                <a:solidFill>
                  <a:srgbClr val="EEAEF6"/>
                </a:solidFill>
                <a:latin typeface="Bricolage Grotesque Extra Bold" pitchFamily="34" charset="0"/>
                <a:ea typeface="Bricolage Grotesque Extra Bold" pitchFamily="34" charset="-122"/>
                <a:cs typeface="Bricolage Grotesque Extra Bold" pitchFamily="34" charset="-120"/>
              </a:rPr>
              <a:t>Export &amp; Data Utility Features</a:t>
            </a:r>
            <a:endParaRPr lang="en-US" sz="3700" dirty="0"/>
          </a:p>
        </p:txBody>
      </p:sp>
      <p:pic>
        <p:nvPicPr>
          <p:cNvPr id="4" name="Image 1" descr="preencoded.png">    </p:cNvPr>
          <p:cNvPicPr>
            <a:picLocks noChangeAspect="1"/>
          </p:cNvPicPr>
          <p:nvPr/>
        </p:nvPicPr>
        <p:blipFill>
          <a:blip r:embed="rId2"/>
          <a:stretch>
            <a:fillRect/>
          </a:stretch>
        </p:blipFill>
        <p:spPr>
          <a:xfrm>
            <a:off x="662107" y="1645206"/>
            <a:ext cx="945833" cy="1392436"/>
          </a:xfrm>
          <a:prstGeom prst="rect">
            <a:avLst/>
          </a:prstGeom>
        </p:spPr>
      </p:pic>
      <p:sp>
        <p:nvSpPr>
          <p:cNvPr id="5" name="Text 1"/>
          <p:cNvSpPr/>
          <p:nvPr/>
        </p:nvSpPr>
        <p:spPr>
          <a:xfrm>
            <a:off x="1797010" y="1834277"/>
            <a:ext cx="2364700" cy="295513"/>
          </a:xfrm>
          <a:prstGeom prst="rect">
            <a:avLst/>
          </a:prstGeom>
          <a:noFill/>
          <a:ln/>
        </p:spPr>
        <p:txBody>
          <a:bodyPr wrap="none" lIns="0" tIns="0" rIns="0" bIns="0" rtlCol="0" anchor="t"/>
          <a:lstStyle/>
          <a:p>
            <a:pPr algn="l" indent="0" marL="0">
              <a:lnSpc>
                <a:spcPts val="2300"/>
              </a:lnSpc>
              <a:buNone/>
            </a:pPr>
            <a:r>
              <a:rPr lang="en-US" sz="1850" b="1" dirty="0">
                <a:solidFill>
                  <a:srgbClr val="E5DCE6"/>
                </a:solidFill>
                <a:latin typeface="Bricolage Grotesque Extra Bold" pitchFamily="34" charset="0"/>
                <a:ea typeface="Bricolage Grotesque Extra Bold" pitchFamily="34" charset="-122"/>
                <a:cs typeface="Bricolage Grotesque Extra Bold" pitchFamily="34" charset="-120"/>
              </a:rPr>
              <a:t>Select Data Range</a:t>
            </a:r>
            <a:endParaRPr lang="en-US" sz="1850" dirty="0"/>
          </a:p>
        </p:txBody>
      </p:sp>
      <p:sp>
        <p:nvSpPr>
          <p:cNvPr id="6" name="Text 2"/>
          <p:cNvSpPr/>
          <p:nvPr/>
        </p:nvSpPr>
        <p:spPr>
          <a:xfrm>
            <a:off x="1797010" y="2243257"/>
            <a:ext cx="6684883" cy="605314"/>
          </a:xfrm>
          <a:prstGeom prst="rect">
            <a:avLst/>
          </a:prstGeom>
          <a:noFill/>
          <a:ln/>
        </p:spPr>
        <p:txBody>
          <a:bodyPr wrap="square" lIns="0" tIns="0" rIns="0" bIns="0" rtlCol="0" anchor="t"/>
          <a:lstStyle/>
          <a:p>
            <a:pPr algn="l" indent="0" marL="0">
              <a:lnSpc>
                <a:spcPts val="2350"/>
              </a:lnSpc>
              <a:buNone/>
            </a:pPr>
            <a:r>
              <a:rPr lang="en-US" sz="1450" dirty="0">
                <a:solidFill>
                  <a:srgbClr val="E5DCE6"/>
                </a:solidFill>
                <a:latin typeface="Montserrat" pitchFamily="34" charset="0"/>
                <a:ea typeface="Montserrat" pitchFamily="34" charset="-122"/>
                <a:cs typeface="Montserrat" pitchFamily="34" charset="-120"/>
              </a:rPr>
              <a:t>Users choose the specific AQI data timeframe and parameters they need</a:t>
            </a:r>
            <a:endParaRPr lang="en-US" sz="1450" dirty="0"/>
          </a:p>
        </p:txBody>
      </p:sp>
      <p:pic>
        <p:nvPicPr>
          <p:cNvPr id="7" name="Image 2" descr="preencoded.png">    </p:cNvPr>
          <p:cNvPicPr>
            <a:picLocks noChangeAspect="1"/>
          </p:cNvPicPr>
          <p:nvPr/>
        </p:nvPicPr>
        <p:blipFill>
          <a:blip r:embed="rId3"/>
          <a:stretch>
            <a:fillRect/>
          </a:stretch>
        </p:blipFill>
        <p:spPr>
          <a:xfrm>
            <a:off x="662107" y="3037642"/>
            <a:ext cx="945833" cy="1135023"/>
          </a:xfrm>
          <a:prstGeom prst="rect">
            <a:avLst/>
          </a:prstGeom>
        </p:spPr>
      </p:pic>
      <p:sp>
        <p:nvSpPr>
          <p:cNvPr id="8" name="Text 3"/>
          <p:cNvSpPr/>
          <p:nvPr/>
        </p:nvSpPr>
        <p:spPr>
          <a:xfrm>
            <a:off x="1797010" y="3226713"/>
            <a:ext cx="2364700" cy="295513"/>
          </a:xfrm>
          <a:prstGeom prst="rect">
            <a:avLst/>
          </a:prstGeom>
          <a:noFill/>
          <a:ln/>
        </p:spPr>
        <p:txBody>
          <a:bodyPr wrap="none" lIns="0" tIns="0" rIns="0" bIns="0" rtlCol="0" anchor="t"/>
          <a:lstStyle/>
          <a:p>
            <a:pPr algn="l" indent="0" marL="0">
              <a:lnSpc>
                <a:spcPts val="2300"/>
              </a:lnSpc>
              <a:buNone/>
            </a:pPr>
            <a:r>
              <a:rPr lang="en-US" sz="1850" b="1" dirty="0">
                <a:solidFill>
                  <a:srgbClr val="E5DCE6"/>
                </a:solidFill>
                <a:latin typeface="Bricolage Grotesque Extra Bold" pitchFamily="34" charset="0"/>
                <a:ea typeface="Bricolage Grotesque Extra Bold" pitchFamily="34" charset="-122"/>
                <a:cs typeface="Bricolage Grotesque Extra Bold" pitchFamily="34" charset="-120"/>
              </a:rPr>
              <a:t>Choose Format</a:t>
            </a:r>
            <a:endParaRPr lang="en-US" sz="1850" dirty="0"/>
          </a:p>
        </p:txBody>
      </p:sp>
      <p:sp>
        <p:nvSpPr>
          <p:cNvPr id="9" name="Text 4"/>
          <p:cNvSpPr/>
          <p:nvPr/>
        </p:nvSpPr>
        <p:spPr>
          <a:xfrm>
            <a:off x="1797010" y="3635693"/>
            <a:ext cx="6684883" cy="302657"/>
          </a:xfrm>
          <a:prstGeom prst="rect">
            <a:avLst/>
          </a:prstGeom>
          <a:noFill/>
          <a:ln/>
        </p:spPr>
        <p:txBody>
          <a:bodyPr wrap="none" lIns="0" tIns="0" rIns="0" bIns="0" rtlCol="0" anchor="t"/>
          <a:lstStyle/>
          <a:p>
            <a:pPr algn="l" indent="0" marL="0">
              <a:lnSpc>
                <a:spcPts val="2350"/>
              </a:lnSpc>
              <a:buNone/>
            </a:pPr>
            <a:r>
              <a:rPr lang="en-US" sz="1450" dirty="0">
                <a:solidFill>
                  <a:srgbClr val="E5DCE6"/>
                </a:solidFill>
                <a:latin typeface="Montserrat" pitchFamily="34" charset="0"/>
                <a:ea typeface="Montserrat" pitchFamily="34" charset="-122"/>
                <a:cs typeface="Montserrat" pitchFamily="34" charset="-120"/>
              </a:rPr>
              <a:t>Select between JSON for developers or CSV for spreadsheet analysis</a:t>
            </a:r>
            <a:endParaRPr lang="en-US" sz="1450" dirty="0"/>
          </a:p>
        </p:txBody>
      </p:sp>
      <p:pic>
        <p:nvPicPr>
          <p:cNvPr id="10" name="Image 3" descr="preencoded.png">    </p:cNvPr>
          <p:cNvPicPr>
            <a:picLocks noChangeAspect="1"/>
          </p:cNvPicPr>
          <p:nvPr/>
        </p:nvPicPr>
        <p:blipFill>
          <a:blip r:embed="rId4"/>
          <a:stretch>
            <a:fillRect/>
          </a:stretch>
        </p:blipFill>
        <p:spPr>
          <a:xfrm>
            <a:off x="662107" y="4172664"/>
            <a:ext cx="945833" cy="1135023"/>
          </a:xfrm>
          <a:prstGeom prst="rect">
            <a:avLst/>
          </a:prstGeom>
        </p:spPr>
      </p:pic>
      <p:sp>
        <p:nvSpPr>
          <p:cNvPr id="11" name="Text 5"/>
          <p:cNvSpPr/>
          <p:nvPr/>
        </p:nvSpPr>
        <p:spPr>
          <a:xfrm>
            <a:off x="1797010" y="4361736"/>
            <a:ext cx="2364700" cy="295513"/>
          </a:xfrm>
          <a:prstGeom prst="rect">
            <a:avLst/>
          </a:prstGeom>
          <a:noFill/>
          <a:ln/>
        </p:spPr>
        <p:txBody>
          <a:bodyPr wrap="none" lIns="0" tIns="0" rIns="0" bIns="0" rtlCol="0" anchor="t"/>
          <a:lstStyle/>
          <a:p>
            <a:pPr algn="l" indent="0" marL="0">
              <a:lnSpc>
                <a:spcPts val="2300"/>
              </a:lnSpc>
              <a:buNone/>
            </a:pPr>
            <a:r>
              <a:rPr lang="en-US" sz="1850" b="1" dirty="0">
                <a:solidFill>
                  <a:srgbClr val="E5DCE6"/>
                </a:solidFill>
                <a:latin typeface="Bricolage Grotesque Extra Bold" pitchFamily="34" charset="0"/>
                <a:ea typeface="Bricolage Grotesque Extra Bold" pitchFamily="34" charset="-122"/>
                <a:cs typeface="Bricolage Grotesque Extra Bold" pitchFamily="34" charset="-120"/>
              </a:rPr>
              <a:t>Export &amp; Download</a:t>
            </a:r>
            <a:endParaRPr lang="en-US" sz="1850" dirty="0"/>
          </a:p>
        </p:txBody>
      </p:sp>
      <p:sp>
        <p:nvSpPr>
          <p:cNvPr id="12" name="Text 6"/>
          <p:cNvSpPr/>
          <p:nvPr/>
        </p:nvSpPr>
        <p:spPr>
          <a:xfrm>
            <a:off x="1797010" y="4770715"/>
            <a:ext cx="6684883" cy="302657"/>
          </a:xfrm>
          <a:prstGeom prst="rect">
            <a:avLst/>
          </a:prstGeom>
          <a:noFill/>
          <a:ln/>
        </p:spPr>
        <p:txBody>
          <a:bodyPr wrap="none" lIns="0" tIns="0" rIns="0" bIns="0" rtlCol="0" anchor="t"/>
          <a:lstStyle/>
          <a:p>
            <a:pPr algn="l" indent="0" marL="0">
              <a:lnSpc>
                <a:spcPts val="2350"/>
              </a:lnSpc>
              <a:buNone/>
            </a:pPr>
            <a:r>
              <a:rPr lang="en-US" sz="1450" dirty="0">
                <a:solidFill>
                  <a:srgbClr val="E5DCE6"/>
                </a:solidFill>
                <a:latin typeface="Montserrat" pitchFamily="34" charset="0"/>
                <a:ea typeface="Montserrat" pitchFamily="34" charset="-122"/>
                <a:cs typeface="Montserrat" pitchFamily="34" charset="-120"/>
              </a:rPr>
              <a:t>Instant download of formatted data ready for external analysis</a:t>
            </a:r>
            <a:endParaRPr lang="en-US" sz="1450" dirty="0"/>
          </a:p>
        </p:txBody>
      </p:sp>
      <p:sp>
        <p:nvSpPr>
          <p:cNvPr id="13" name="Text 7"/>
          <p:cNvSpPr/>
          <p:nvPr/>
        </p:nvSpPr>
        <p:spPr>
          <a:xfrm>
            <a:off x="945833" y="5733217"/>
            <a:ext cx="7536061" cy="1513284"/>
          </a:xfrm>
          <a:prstGeom prst="rect">
            <a:avLst/>
          </a:prstGeom>
          <a:noFill/>
          <a:ln/>
        </p:spPr>
        <p:txBody>
          <a:bodyPr wrap="square" lIns="0" tIns="0" rIns="0" bIns="0" rtlCol="0" anchor="t"/>
          <a:lstStyle/>
          <a:p>
            <a:pPr algn="l" indent="0" marL="0">
              <a:lnSpc>
                <a:spcPts val="2350"/>
              </a:lnSpc>
              <a:buNone/>
            </a:pPr>
            <a:r>
              <a:rPr lang="en-US" sz="1450" dirty="0">
                <a:solidFill>
                  <a:srgbClr val="E5DCE6"/>
                </a:solidFill>
                <a:latin typeface="Montserrat" pitchFamily="34" charset="0"/>
                <a:ea typeface="Montserrat" pitchFamily="34" charset="-122"/>
                <a:cs typeface="Montserrat" pitchFamily="34" charset="-120"/>
              </a:rPr>
              <a:t>The new data export functionality empowers users to download AQI data in both </a:t>
            </a:r>
            <a:pPr algn="l" indent="0" marL="0">
              <a:lnSpc>
                <a:spcPts val="2350"/>
              </a:lnSpc>
              <a:buNone/>
            </a:pPr>
            <a:r>
              <a:rPr lang="en-US" sz="1450" b="1" dirty="0">
                <a:solidFill>
                  <a:srgbClr val="E5DCE6"/>
                </a:solidFill>
                <a:latin typeface="Montserrat" pitchFamily="34" charset="0"/>
                <a:ea typeface="Montserrat" pitchFamily="34" charset="-122"/>
                <a:cs typeface="Montserrat" pitchFamily="34" charset="-120"/>
              </a:rPr>
              <a:t>JSON</a:t>
            </a:r>
            <a:pPr algn="l" indent="0" marL="0">
              <a:lnSpc>
                <a:spcPts val="2350"/>
              </a:lnSpc>
              <a:buNone/>
            </a:pPr>
            <a:r>
              <a:rPr lang="en-US" sz="1450" dirty="0">
                <a:solidFill>
                  <a:srgbClr val="E5DCE6"/>
                </a:solidFill>
                <a:latin typeface="Montserrat" pitchFamily="34" charset="0"/>
                <a:ea typeface="Montserrat" pitchFamily="34" charset="-122"/>
                <a:cs typeface="Montserrat" pitchFamily="34" charset="-120"/>
              </a:rPr>
              <a:t> and </a:t>
            </a:r>
            <a:pPr algn="l" indent="0" marL="0">
              <a:lnSpc>
                <a:spcPts val="2350"/>
              </a:lnSpc>
              <a:buNone/>
            </a:pPr>
            <a:r>
              <a:rPr lang="en-US" sz="1450" b="1" dirty="0">
                <a:solidFill>
                  <a:srgbClr val="E5DCE6"/>
                </a:solidFill>
                <a:latin typeface="Montserrat" pitchFamily="34" charset="0"/>
                <a:ea typeface="Montserrat" pitchFamily="34" charset="-122"/>
                <a:cs typeface="Montserrat" pitchFamily="34" charset="-120"/>
              </a:rPr>
              <a:t>CSV</a:t>
            </a:r>
            <a:pPr algn="l" indent="0" marL="0">
              <a:lnSpc>
                <a:spcPts val="2350"/>
              </a:lnSpc>
              <a:buNone/>
            </a:pPr>
            <a:r>
              <a:rPr lang="en-US" sz="1450" dirty="0">
                <a:solidFill>
                  <a:srgbClr val="E5DCE6"/>
                </a:solidFill>
                <a:latin typeface="Montserrat" pitchFamily="34" charset="0"/>
                <a:ea typeface="Montserrat" pitchFamily="34" charset="-122"/>
                <a:cs typeface="Montserrat" pitchFamily="34" charset="-120"/>
              </a:rPr>
              <a:t> formats. This feature dramatically improves usability by allowing researchers, analysts, and stakeholders to conduct offline analysis, generate custom reports, and integrate data with external tools. Data portability has never been easier.</a:t>
            </a:r>
            <a:endParaRPr lang="en-US" sz="1450" dirty="0"/>
          </a:p>
        </p:txBody>
      </p:sp>
      <p:sp>
        <p:nvSpPr>
          <p:cNvPr id="14" name="Shape 8"/>
          <p:cNvSpPr/>
          <p:nvPr/>
        </p:nvSpPr>
        <p:spPr>
          <a:xfrm>
            <a:off x="662107" y="5520452"/>
            <a:ext cx="22860" cy="1938814"/>
          </a:xfrm>
          <a:prstGeom prst="rect">
            <a:avLst/>
          </a:prstGeom>
          <a:solidFill>
            <a:srgbClr val="EEAEF6"/>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543" y="416838"/>
            <a:ext cx="6981587" cy="473631"/>
          </a:xfrm>
          <a:prstGeom prst="rect">
            <a:avLst/>
          </a:prstGeom>
          <a:noFill/>
          <a:ln/>
        </p:spPr>
        <p:txBody>
          <a:bodyPr wrap="none" lIns="0" tIns="0" rIns="0" bIns="0" rtlCol="0" anchor="t"/>
          <a:lstStyle/>
          <a:p>
            <a:pPr algn="l" indent="0" marL="0">
              <a:lnSpc>
                <a:spcPts val="3700"/>
              </a:lnSpc>
              <a:buNone/>
            </a:pPr>
            <a:r>
              <a:rPr lang="en-US" sz="2950" b="1" dirty="0">
                <a:solidFill>
                  <a:srgbClr val="EEAEF6"/>
                </a:solidFill>
                <a:latin typeface="Bricolage Grotesque Extra Bold" pitchFamily="34" charset="0"/>
                <a:ea typeface="Bricolage Grotesque Extra Bold" pitchFamily="34" charset="-122"/>
                <a:cs typeface="Bricolage Grotesque Extra Bold" pitchFamily="34" charset="-120"/>
              </a:rPr>
              <a:t>Profile, Sessions &amp; Language Support</a:t>
            </a:r>
            <a:endParaRPr lang="en-US" sz="2950" dirty="0"/>
          </a:p>
        </p:txBody>
      </p:sp>
      <p:sp>
        <p:nvSpPr>
          <p:cNvPr id="3" name="Text 1"/>
          <p:cNvSpPr/>
          <p:nvPr/>
        </p:nvSpPr>
        <p:spPr>
          <a:xfrm>
            <a:off x="530543" y="1269444"/>
            <a:ext cx="1895118" cy="236934"/>
          </a:xfrm>
          <a:prstGeom prst="rect">
            <a:avLst/>
          </a:prstGeom>
          <a:noFill/>
          <a:ln/>
        </p:spPr>
        <p:txBody>
          <a:bodyPr wrap="none" lIns="0" tIns="0" rIns="0" bIns="0" rtlCol="0" anchor="t"/>
          <a:lstStyle/>
          <a:p>
            <a:pPr algn="l" indent="0" marL="0">
              <a:lnSpc>
                <a:spcPts val="1850"/>
              </a:lnSpc>
              <a:buNone/>
            </a:pPr>
            <a:r>
              <a:rPr lang="en-US" sz="1450" b="1" dirty="0">
                <a:solidFill>
                  <a:srgbClr val="EEAEF6"/>
                </a:solidFill>
                <a:latin typeface="Bricolage Grotesque Extra Bold" pitchFamily="34" charset="0"/>
                <a:ea typeface="Bricolage Grotesque Extra Bold" pitchFamily="34" charset="-122"/>
                <a:cs typeface="Bricolage Grotesque Extra Bold" pitchFamily="34" charset="-120"/>
              </a:rPr>
              <a:t>Profile Page</a:t>
            </a:r>
            <a:endParaRPr lang="en-US" sz="1450" dirty="0"/>
          </a:p>
        </p:txBody>
      </p:sp>
      <p:pic>
        <p:nvPicPr>
          <p:cNvPr id="4" name="Image 0" descr="preencoded.png">    </p:cNvPr>
          <p:cNvPicPr>
            <a:picLocks noChangeAspect="1"/>
          </p:cNvPicPr>
          <p:nvPr/>
        </p:nvPicPr>
        <p:blipFill>
          <a:blip r:embed="rId1"/>
          <a:stretch>
            <a:fillRect/>
          </a:stretch>
        </p:blipFill>
        <p:spPr>
          <a:xfrm>
            <a:off x="530543" y="1676876"/>
            <a:ext cx="4230053" cy="4230053"/>
          </a:xfrm>
          <a:prstGeom prst="rect">
            <a:avLst/>
          </a:prstGeom>
        </p:spPr>
      </p:pic>
      <p:sp>
        <p:nvSpPr>
          <p:cNvPr id="5" name="Text 2"/>
          <p:cNvSpPr/>
          <p:nvPr/>
        </p:nvSpPr>
        <p:spPr>
          <a:xfrm>
            <a:off x="530543" y="6077426"/>
            <a:ext cx="4230053" cy="727234"/>
          </a:xfrm>
          <a:prstGeom prst="rect">
            <a:avLst/>
          </a:prstGeom>
          <a:noFill/>
          <a:ln/>
        </p:spPr>
        <p:txBody>
          <a:bodyPr wrap="square" lIns="0" tIns="0" rIns="0" bIns="0" rtlCol="0" anchor="t"/>
          <a:lstStyle/>
          <a:p>
            <a:pPr algn="l" indent="0" marL="0">
              <a:lnSpc>
                <a:spcPts val="1900"/>
              </a:lnSpc>
              <a:buNone/>
            </a:pPr>
            <a:r>
              <a:rPr lang="en-US" sz="1150" dirty="0">
                <a:solidFill>
                  <a:srgbClr val="E5DCE6"/>
                </a:solidFill>
                <a:latin typeface="Montserrat" pitchFamily="34" charset="0"/>
                <a:ea typeface="Montserrat" pitchFamily="34" charset="-122"/>
                <a:cs typeface="Montserrat" pitchFamily="34" charset="-120"/>
              </a:rPr>
              <a:t>Comprehensive profile management displaying user details, preferences, and activity history in an intuitive interface</a:t>
            </a:r>
            <a:endParaRPr lang="en-US" sz="1150" dirty="0"/>
          </a:p>
        </p:txBody>
      </p:sp>
      <p:sp>
        <p:nvSpPr>
          <p:cNvPr id="6" name="Text 3"/>
          <p:cNvSpPr/>
          <p:nvPr/>
        </p:nvSpPr>
        <p:spPr>
          <a:xfrm>
            <a:off x="5138023" y="1269444"/>
            <a:ext cx="1895118" cy="236934"/>
          </a:xfrm>
          <a:prstGeom prst="rect">
            <a:avLst/>
          </a:prstGeom>
          <a:noFill/>
          <a:ln/>
        </p:spPr>
        <p:txBody>
          <a:bodyPr wrap="none" lIns="0" tIns="0" rIns="0" bIns="0" rtlCol="0" anchor="t"/>
          <a:lstStyle/>
          <a:p>
            <a:pPr algn="l" indent="0" marL="0">
              <a:lnSpc>
                <a:spcPts val="1850"/>
              </a:lnSpc>
              <a:buNone/>
            </a:pPr>
            <a:r>
              <a:rPr lang="en-US" sz="1450" b="1" dirty="0">
                <a:solidFill>
                  <a:srgbClr val="EEAEF6"/>
                </a:solidFill>
                <a:latin typeface="Bricolage Grotesque Extra Bold" pitchFamily="34" charset="0"/>
                <a:ea typeface="Bricolage Grotesque Extra Bold" pitchFamily="34" charset="-122"/>
                <a:cs typeface="Bricolage Grotesque Extra Bold" pitchFamily="34" charset="-120"/>
              </a:rPr>
              <a:t>Session Handling</a:t>
            </a:r>
            <a:endParaRPr lang="en-US" sz="1450" dirty="0"/>
          </a:p>
        </p:txBody>
      </p:sp>
      <p:pic>
        <p:nvPicPr>
          <p:cNvPr id="7" name="Image 1" descr="preencoded.png">    </p:cNvPr>
          <p:cNvPicPr>
            <a:picLocks noChangeAspect="1"/>
          </p:cNvPicPr>
          <p:nvPr/>
        </p:nvPicPr>
        <p:blipFill>
          <a:blip r:embed="rId2"/>
          <a:stretch>
            <a:fillRect/>
          </a:stretch>
        </p:blipFill>
        <p:spPr>
          <a:xfrm>
            <a:off x="5138023" y="1676876"/>
            <a:ext cx="4230053" cy="4230053"/>
          </a:xfrm>
          <a:prstGeom prst="rect">
            <a:avLst/>
          </a:prstGeom>
        </p:spPr>
      </p:pic>
      <p:sp>
        <p:nvSpPr>
          <p:cNvPr id="8" name="Text 4"/>
          <p:cNvSpPr/>
          <p:nvPr/>
        </p:nvSpPr>
        <p:spPr>
          <a:xfrm>
            <a:off x="5138023" y="6077426"/>
            <a:ext cx="4230053" cy="727234"/>
          </a:xfrm>
          <a:prstGeom prst="rect">
            <a:avLst/>
          </a:prstGeom>
          <a:noFill/>
          <a:ln/>
        </p:spPr>
        <p:txBody>
          <a:bodyPr wrap="square" lIns="0" tIns="0" rIns="0" bIns="0" rtlCol="0" anchor="t"/>
          <a:lstStyle/>
          <a:p>
            <a:pPr algn="l" indent="0" marL="0">
              <a:lnSpc>
                <a:spcPts val="1900"/>
              </a:lnSpc>
              <a:buNone/>
            </a:pPr>
            <a:r>
              <a:rPr lang="en-US" sz="1150" dirty="0">
                <a:solidFill>
                  <a:srgbClr val="E5DCE6"/>
                </a:solidFill>
                <a:latin typeface="Montserrat" pitchFamily="34" charset="0"/>
                <a:ea typeface="Montserrat" pitchFamily="34" charset="-122"/>
                <a:cs typeface="Montserrat" pitchFamily="34" charset="-120"/>
              </a:rPr>
              <a:t>Robust session management ensures secure user authentication, protecting sensitive data and maintaining privacy</a:t>
            </a:r>
            <a:endParaRPr lang="en-US" sz="1150" dirty="0"/>
          </a:p>
        </p:txBody>
      </p:sp>
      <p:sp>
        <p:nvSpPr>
          <p:cNvPr id="9" name="Text 5"/>
          <p:cNvSpPr/>
          <p:nvPr/>
        </p:nvSpPr>
        <p:spPr>
          <a:xfrm>
            <a:off x="9745504" y="1269444"/>
            <a:ext cx="2010132" cy="236934"/>
          </a:xfrm>
          <a:prstGeom prst="rect">
            <a:avLst/>
          </a:prstGeom>
          <a:noFill/>
          <a:ln/>
        </p:spPr>
        <p:txBody>
          <a:bodyPr wrap="none" lIns="0" tIns="0" rIns="0" bIns="0" rtlCol="0" anchor="t"/>
          <a:lstStyle/>
          <a:p>
            <a:pPr algn="l" indent="0" marL="0">
              <a:lnSpc>
                <a:spcPts val="1850"/>
              </a:lnSpc>
              <a:buNone/>
            </a:pPr>
            <a:r>
              <a:rPr lang="en-US" sz="1450" b="1" dirty="0">
                <a:solidFill>
                  <a:srgbClr val="EEAEF6"/>
                </a:solidFill>
                <a:latin typeface="Bricolage Grotesque Extra Bold" pitchFamily="34" charset="0"/>
                <a:ea typeface="Bricolage Grotesque Extra Bold" pitchFamily="34" charset="-122"/>
                <a:cs typeface="Bricolage Grotesque Extra Bold" pitchFamily="34" charset="-120"/>
              </a:rPr>
              <a:t>Language Translation</a:t>
            </a:r>
            <a:endParaRPr lang="en-US" sz="1450" dirty="0"/>
          </a:p>
        </p:txBody>
      </p:sp>
      <p:pic>
        <p:nvPicPr>
          <p:cNvPr id="10" name="Image 2" descr="preencoded.png">    </p:cNvPr>
          <p:cNvPicPr>
            <a:picLocks noChangeAspect="1"/>
          </p:cNvPicPr>
          <p:nvPr/>
        </p:nvPicPr>
        <p:blipFill>
          <a:blip r:embed="rId3"/>
          <a:stretch>
            <a:fillRect/>
          </a:stretch>
        </p:blipFill>
        <p:spPr>
          <a:xfrm>
            <a:off x="9745504" y="1676876"/>
            <a:ext cx="4369475" cy="4369475"/>
          </a:xfrm>
          <a:prstGeom prst="rect">
            <a:avLst/>
          </a:prstGeom>
        </p:spPr>
      </p:pic>
      <p:sp>
        <p:nvSpPr>
          <p:cNvPr id="11" name="Text 6"/>
          <p:cNvSpPr/>
          <p:nvPr/>
        </p:nvSpPr>
        <p:spPr>
          <a:xfrm>
            <a:off x="9745504" y="6216848"/>
            <a:ext cx="4369475" cy="727234"/>
          </a:xfrm>
          <a:prstGeom prst="rect">
            <a:avLst/>
          </a:prstGeom>
          <a:noFill/>
          <a:ln/>
        </p:spPr>
        <p:txBody>
          <a:bodyPr wrap="square" lIns="0" tIns="0" rIns="0" bIns="0" rtlCol="0" anchor="t"/>
          <a:lstStyle/>
          <a:p>
            <a:pPr algn="l" indent="0" marL="0">
              <a:lnSpc>
                <a:spcPts val="1900"/>
              </a:lnSpc>
              <a:buNone/>
            </a:pPr>
            <a:r>
              <a:rPr lang="en-US" sz="1150" dirty="0">
                <a:solidFill>
                  <a:srgbClr val="E5DCE6"/>
                </a:solidFill>
                <a:latin typeface="Montserrat" pitchFamily="34" charset="0"/>
                <a:ea typeface="Montserrat" pitchFamily="34" charset="-122"/>
                <a:cs typeface="Montserrat" pitchFamily="34" charset="-120"/>
              </a:rPr>
              <a:t>Multi-language support makes the dashboard accessible to diverse users across different regions and demographics</a:t>
            </a:r>
            <a:endParaRPr lang="en-US" sz="1150" dirty="0"/>
          </a:p>
        </p:txBody>
      </p:sp>
      <p:sp>
        <p:nvSpPr>
          <p:cNvPr id="12" name="Shape 7"/>
          <p:cNvSpPr/>
          <p:nvPr/>
        </p:nvSpPr>
        <p:spPr>
          <a:xfrm>
            <a:off x="530543" y="7251025"/>
            <a:ext cx="6708815" cy="1146334"/>
          </a:xfrm>
          <a:prstGeom prst="roundRect">
            <a:avLst>
              <a:gd name="adj" fmla="val 5555"/>
            </a:avLst>
          </a:prstGeom>
          <a:solidFill>
            <a:srgbClr val="090E3F"/>
          </a:solidFill>
          <a:ln w="15240">
            <a:solidFill>
              <a:srgbClr val="414677"/>
            </a:solidFill>
            <a:prstDash val="solid"/>
          </a:ln>
        </p:spPr>
      </p:sp>
      <p:sp>
        <p:nvSpPr>
          <p:cNvPr id="13" name="Text 8"/>
          <p:cNvSpPr/>
          <p:nvPr/>
        </p:nvSpPr>
        <p:spPr>
          <a:xfrm>
            <a:off x="697349" y="7417832"/>
            <a:ext cx="1895118" cy="236934"/>
          </a:xfrm>
          <a:prstGeom prst="rect">
            <a:avLst/>
          </a:prstGeom>
          <a:noFill/>
          <a:ln/>
        </p:spPr>
        <p:txBody>
          <a:bodyPr wrap="none" lIns="0" tIns="0" rIns="0" bIns="0" rtlCol="0" anchor="t"/>
          <a:lstStyle/>
          <a:p>
            <a:pPr algn="l" indent="0" marL="0">
              <a:lnSpc>
                <a:spcPts val="1850"/>
              </a:lnSpc>
              <a:buNone/>
            </a:pPr>
            <a:r>
              <a:rPr lang="en-US" sz="1450" b="1" dirty="0">
                <a:solidFill>
                  <a:srgbClr val="E5DCE6"/>
                </a:solidFill>
                <a:latin typeface="Bricolage Grotesque Extra Bold" pitchFamily="34" charset="0"/>
                <a:ea typeface="Bricolage Grotesque Extra Bold" pitchFamily="34" charset="-122"/>
                <a:cs typeface="Bricolage Grotesque Extra Bold" pitchFamily="34" charset="-120"/>
              </a:rPr>
              <a:t>Personalization</a:t>
            </a:r>
            <a:endParaRPr lang="en-US" sz="1450" dirty="0"/>
          </a:p>
        </p:txBody>
      </p:sp>
      <p:sp>
        <p:nvSpPr>
          <p:cNvPr id="14" name="Text 9"/>
          <p:cNvSpPr/>
          <p:nvPr/>
        </p:nvSpPr>
        <p:spPr>
          <a:xfrm>
            <a:off x="697349" y="7745730"/>
            <a:ext cx="6375202" cy="484823"/>
          </a:xfrm>
          <a:prstGeom prst="rect">
            <a:avLst/>
          </a:prstGeom>
          <a:noFill/>
          <a:ln/>
        </p:spPr>
        <p:txBody>
          <a:bodyPr wrap="square" lIns="0" tIns="0" rIns="0" bIns="0" rtlCol="0" anchor="t"/>
          <a:lstStyle/>
          <a:p>
            <a:pPr algn="l" indent="0" marL="0">
              <a:lnSpc>
                <a:spcPts val="1900"/>
              </a:lnSpc>
              <a:buNone/>
            </a:pPr>
            <a:r>
              <a:rPr lang="en-US" sz="1150" dirty="0">
                <a:solidFill>
                  <a:srgbClr val="E5DCE6"/>
                </a:solidFill>
                <a:latin typeface="Montserrat" pitchFamily="34" charset="0"/>
                <a:ea typeface="Montserrat" pitchFamily="34" charset="-122"/>
                <a:cs typeface="Montserrat" pitchFamily="34" charset="-120"/>
              </a:rPr>
              <a:t>Users can customize their experience with saved preferences, notification settings, and dashboard layouts tailored to their needs</a:t>
            </a:r>
            <a:endParaRPr lang="en-US" sz="1150" dirty="0"/>
          </a:p>
        </p:txBody>
      </p:sp>
      <p:sp>
        <p:nvSpPr>
          <p:cNvPr id="15" name="Shape 10"/>
          <p:cNvSpPr/>
          <p:nvPr/>
        </p:nvSpPr>
        <p:spPr>
          <a:xfrm>
            <a:off x="7390924" y="7251025"/>
            <a:ext cx="6708934" cy="1146334"/>
          </a:xfrm>
          <a:prstGeom prst="roundRect">
            <a:avLst>
              <a:gd name="adj" fmla="val 5555"/>
            </a:avLst>
          </a:prstGeom>
          <a:solidFill>
            <a:srgbClr val="090E3F"/>
          </a:solidFill>
          <a:ln w="15240">
            <a:solidFill>
              <a:srgbClr val="414677"/>
            </a:solidFill>
            <a:prstDash val="solid"/>
          </a:ln>
        </p:spPr>
      </p:sp>
      <p:sp>
        <p:nvSpPr>
          <p:cNvPr id="16" name="Text 11"/>
          <p:cNvSpPr/>
          <p:nvPr/>
        </p:nvSpPr>
        <p:spPr>
          <a:xfrm>
            <a:off x="7557730" y="7417832"/>
            <a:ext cx="1895118" cy="236934"/>
          </a:xfrm>
          <a:prstGeom prst="rect">
            <a:avLst/>
          </a:prstGeom>
          <a:noFill/>
          <a:ln/>
        </p:spPr>
        <p:txBody>
          <a:bodyPr wrap="none" lIns="0" tIns="0" rIns="0" bIns="0" rtlCol="0" anchor="t"/>
          <a:lstStyle/>
          <a:p>
            <a:pPr algn="l" indent="0" marL="0">
              <a:lnSpc>
                <a:spcPts val="1850"/>
              </a:lnSpc>
              <a:buNone/>
            </a:pPr>
            <a:r>
              <a:rPr lang="en-US" sz="1450" b="1" dirty="0">
                <a:solidFill>
                  <a:srgbClr val="E5DCE6"/>
                </a:solidFill>
                <a:latin typeface="Bricolage Grotesque Extra Bold" pitchFamily="34" charset="0"/>
                <a:ea typeface="Bricolage Grotesque Extra Bold" pitchFamily="34" charset="-122"/>
                <a:cs typeface="Bricolage Grotesque Extra Bold" pitchFamily="34" charset="-120"/>
              </a:rPr>
              <a:t>Inclusivity</a:t>
            </a:r>
            <a:endParaRPr lang="en-US" sz="1450" dirty="0"/>
          </a:p>
        </p:txBody>
      </p:sp>
      <p:sp>
        <p:nvSpPr>
          <p:cNvPr id="17" name="Text 12"/>
          <p:cNvSpPr/>
          <p:nvPr/>
        </p:nvSpPr>
        <p:spPr>
          <a:xfrm>
            <a:off x="7557730" y="7745730"/>
            <a:ext cx="6375321" cy="484823"/>
          </a:xfrm>
          <a:prstGeom prst="rect">
            <a:avLst/>
          </a:prstGeom>
          <a:noFill/>
          <a:ln/>
        </p:spPr>
        <p:txBody>
          <a:bodyPr wrap="square" lIns="0" tIns="0" rIns="0" bIns="0" rtlCol="0" anchor="t"/>
          <a:lstStyle/>
          <a:p>
            <a:pPr algn="l" indent="0" marL="0">
              <a:lnSpc>
                <a:spcPts val="1900"/>
              </a:lnSpc>
              <a:buNone/>
            </a:pPr>
            <a:r>
              <a:rPr lang="en-US" sz="1150" dirty="0">
                <a:solidFill>
                  <a:srgbClr val="E5DCE6"/>
                </a:solidFill>
                <a:latin typeface="Montserrat" pitchFamily="34" charset="0"/>
                <a:ea typeface="Montserrat" pitchFamily="34" charset="-122"/>
                <a:cs typeface="Montserrat" pitchFamily="34" charset="-120"/>
              </a:rPr>
              <a:t>Language translation support breaks down barriers, ensuring the application serves communities regardless of their primary language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025015"/>
          </a:xfrm>
          <a:prstGeom prst="rect">
            <a:avLst/>
          </a:prstGeom>
        </p:spPr>
      </p:pic>
      <p:sp>
        <p:nvSpPr>
          <p:cNvPr id="3" name="Text 0"/>
          <p:cNvSpPr/>
          <p:nvPr/>
        </p:nvSpPr>
        <p:spPr>
          <a:xfrm>
            <a:off x="539948" y="2353508"/>
            <a:ext cx="6051590" cy="482203"/>
          </a:xfrm>
          <a:prstGeom prst="rect">
            <a:avLst/>
          </a:prstGeom>
          <a:noFill/>
          <a:ln/>
        </p:spPr>
        <p:txBody>
          <a:bodyPr wrap="none" lIns="0" tIns="0" rIns="0" bIns="0" rtlCol="0" anchor="t"/>
          <a:lstStyle/>
          <a:p>
            <a:pPr algn="l" indent="0" marL="0">
              <a:lnSpc>
                <a:spcPts val="3750"/>
              </a:lnSpc>
              <a:buNone/>
            </a:pPr>
            <a:r>
              <a:rPr lang="en-US" sz="3000" b="1" dirty="0">
                <a:solidFill>
                  <a:srgbClr val="EEAEF6"/>
                </a:solidFill>
                <a:latin typeface="Bricolage Grotesque Extra Bold" pitchFamily="34" charset="0"/>
                <a:ea typeface="Bricolage Grotesque Extra Bold" pitchFamily="34" charset="-122"/>
                <a:cs typeface="Bricolage Grotesque Extra Bold" pitchFamily="34" charset="-120"/>
              </a:rPr>
              <a:t>Testing, Stability &amp; UI Validation</a:t>
            </a:r>
            <a:endParaRPr lang="en-US" sz="3000" dirty="0"/>
          </a:p>
        </p:txBody>
      </p:sp>
      <p:sp>
        <p:nvSpPr>
          <p:cNvPr id="4" name="Shape 1"/>
          <p:cNvSpPr/>
          <p:nvPr/>
        </p:nvSpPr>
        <p:spPr>
          <a:xfrm>
            <a:off x="539948" y="4511397"/>
            <a:ext cx="13550503" cy="22860"/>
          </a:xfrm>
          <a:prstGeom prst="roundRect">
            <a:avLst>
              <a:gd name="adj" fmla="val 283484"/>
            </a:avLst>
          </a:prstGeom>
          <a:solidFill>
            <a:srgbClr val="414677"/>
          </a:solidFill>
          <a:ln/>
        </p:spPr>
      </p:sp>
      <p:sp>
        <p:nvSpPr>
          <p:cNvPr id="5" name="Shape 2"/>
          <p:cNvSpPr/>
          <p:nvPr/>
        </p:nvSpPr>
        <p:spPr>
          <a:xfrm>
            <a:off x="3180636" y="4048661"/>
            <a:ext cx="22860" cy="462796"/>
          </a:xfrm>
          <a:prstGeom prst="roundRect">
            <a:avLst>
              <a:gd name="adj" fmla="val 283484"/>
            </a:avLst>
          </a:prstGeom>
          <a:solidFill>
            <a:srgbClr val="414677"/>
          </a:solidFill>
          <a:ln/>
        </p:spPr>
      </p:sp>
      <p:sp>
        <p:nvSpPr>
          <p:cNvPr id="6" name="Shape 3"/>
          <p:cNvSpPr/>
          <p:nvPr/>
        </p:nvSpPr>
        <p:spPr>
          <a:xfrm>
            <a:off x="3018592" y="4337864"/>
            <a:ext cx="347067" cy="347067"/>
          </a:xfrm>
          <a:prstGeom prst="roundRect">
            <a:avLst>
              <a:gd name="adj" fmla="val 18672"/>
            </a:avLst>
          </a:prstGeom>
          <a:solidFill>
            <a:srgbClr val="282D5E"/>
          </a:solidFill>
          <a:ln/>
        </p:spPr>
      </p:sp>
      <p:sp>
        <p:nvSpPr>
          <p:cNvPr id="7" name="Text 4"/>
          <p:cNvSpPr/>
          <p:nvPr/>
        </p:nvSpPr>
        <p:spPr>
          <a:xfrm>
            <a:off x="3076396" y="4366736"/>
            <a:ext cx="231338" cy="289203"/>
          </a:xfrm>
          <a:prstGeom prst="rect">
            <a:avLst/>
          </a:prstGeom>
          <a:noFill/>
          <a:ln/>
        </p:spPr>
        <p:txBody>
          <a:bodyPr wrap="none" lIns="0" tIns="0" rIns="0" bIns="0" rtlCol="0" anchor="t"/>
          <a:lstStyle/>
          <a:p>
            <a:pPr algn="ctr" indent="0" marL="0">
              <a:lnSpc>
                <a:spcPts val="180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1</a:t>
            </a:r>
            <a:endParaRPr lang="en-US" sz="1800" dirty="0"/>
          </a:p>
        </p:txBody>
      </p:sp>
      <p:sp>
        <p:nvSpPr>
          <p:cNvPr id="8" name="Text 5"/>
          <p:cNvSpPr/>
          <p:nvPr/>
        </p:nvSpPr>
        <p:spPr>
          <a:xfrm>
            <a:off x="2227778" y="3067050"/>
            <a:ext cx="1928693" cy="241102"/>
          </a:xfrm>
          <a:prstGeom prst="rect">
            <a:avLst/>
          </a:prstGeom>
          <a:noFill/>
          <a:ln/>
        </p:spPr>
        <p:txBody>
          <a:bodyPr wrap="none" lIns="0" tIns="0" rIns="0" bIns="0" rtlCol="0" anchor="t"/>
          <a:lstStyle/>
          <a:p>
            <a:pPr algn="ctr" indent="0" marL="0">
              <a:lnSpc>
                <a:spcPts val="1850"/>
              </a:lnSpc>
              <a:buNone/>
            </a:pPr>
            <a:r>
              <a:rPr lang="en-US" sz="1500" b="1" dirty="0">
                <a:solidFill>
                  <a:srgbClr val="E5DCE6"/>
                </a:solidFill>
                <a:latin typeface="Bricolage Grotesque Extra Bold" pitchFamily="34" charset="0"/>
                <a:ea typeface="Bricolage Grotesque Extra Bold" pitchFamily="34" charset="-122"/>
                <a:cs typeface="Bricolage Grotesque Extra Bold" pitchFamily="34" charset="-120"/>
              </a:rPr>
              <a:t>Functional Testing</a:t>
            </a:r>
            <a:endParaRPr lang="en-US" sz="1500" dirty="0"/>
          </a:p>
        </p:txBody>
      </p:sp>
      <p:sp>
        <p:nvSpPr>
          <p:cNvPr id="9" name="Text 6"/>
          <p:cNvSpPr/>
          <p:nvPr/>
        </p:nvSpPr>
        <p:spPr>
          <a:xfrm>
            <a:off x="694134" y="3400663"/>
            <a:ext cx="4996101" cy="493633"/>
          </a:xfrm>
          <a:prstGeom prst="rect">
            <a:avLst/>
          </a:prstGeom>
          <a:noFill/>
          <a:ln/>
        </p:spPr>
        <p:txBody>
          <a:bodyPr wrap="square" lIns="0" tIns="0" rIns="0" bIns="0" rtlCol="0" anchor="t"/>
          <a:lstStyle/>
          <a:p>
            <a:pPr algn="ctr" indent="0" marL="0">
              <a:lnSpc>
                <a:spcPts val="1900"/>
              </a:lnSpc>
              <a:buNone/>
            </a:pPr>
            <a:r>
              <a:rPr lang="en-US" sz="1200" dirty="0">
                <a:solidFill>
                  <a:srgbClr val="E5DCE6"/>
                </a:solidFill>
                <a:latin typeface="Montserrat" pitchFamily="34" charset="0"/>
                <a:ea typeface="Montserrat" pitchFamily="34" charset="-122"/>
                <a:cs typeface="Montserrat" pitchFamily="34" charset="-120"/>
              </a:rPr>
              <a:t>Comprehensive testing performed across all modules to verify feature completeness and correct behavior</a:t>
            </a:r>
            <a:endParaRPr lang="en-US" sz="1200" dirty="0"/>
          </a:p>
        </p:txBody>
      </p:sp>
      <p:sp>
        <p:nvSpPr>
          <p:cNvPr id="10" name="Shape 7"/>
          <p:cNvSpPr/>
          <p:nvPr/>
        </p:nvSpPr>
        <p:spPr>
          <a:xfrm>
            <a:off x="5929193" y="4511338"/>
            <a:ext cx="22860" cy="462796"/>
          </a:xfrm>
          <a:prstGeom prst="roundRect">
            <a:avLst>
              <a:gd name="adj" fmla="val 283484"/>
            </a:avLst>
          </a:prstGeom>
          <a:solidFill>
            <a:srgbClr val="414677"/>
          </a:solidFill>
          <a:ln/>
        </p:spPr>
      </p:sp>
      <p:sp>
        <p:nvSpPr>
          <p:cNvPr id="11" name="Shape 8"/>
          <p:cNvSpPr/>
          <p:nvPr/>
        </p:nvSpPr>
        <p:spPr>
          <a:xfrm>
            <a:off x="5767149" y="4337864"/>
            <a:ext cx="347067" cy="347067"/>
          </a:xfrm>
          <a:prstGeom prst="roundRect">
            <a:avLst>
              <a:gd name="adj" fmla="val 18672"/>
            </a:avLst>
          </a:prstGeom>
          <a:solidFill>
            <a:srgbClr val="282D5E"/>
          </a:solidFill>
          <a:ln/>
        </p:spPr>
      </p:sp>
      <p:sp>
        <p:nvSpPr>
          <p:cNvPr id="12" name="Text 9"/>
          <p:cNvSpPr/>
          <p:nvPr/>
        </p:nvSpPr>
        <p:spPr>
          <a:xfrm>
            <a:off x="5824954" y="4366736"/>
            <a:ext cx="231338" cy="289203"/>
          </a:xfrm>
          <a:prstGeom prst="rect">
            <a:avLst/>
          </a:prstGeom>
          <a:noFill/>
          <a:ln/>
        </p:spPr>
        <p:txBody>
          <a:bodyPr wrap="none" lIns="0" tIns="0" rIns="0" bIns="0" rtlCol="0" anchor="t"/>
          <a:lstStyle/>
          <a:p>
            <a:pPr algn="ctr" indent="0" marL="0">
              <a:lnSpc>
                <a:spcPts val="180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2</a:t>
            </a:r>
            <a:endParaRPr lang="en-US" sz="1800" dirty="0"/>
          </a:p>
        </p:txBody>
      </p:sp>
      <p:sp>
        <p:nvSpPr>
          <p:cNvPr id="13" name="Text 10"/>
          <p:cNvSpPr/>
          <p:nvPr/>
        </p:nvSpPr>
        <p:spPr>
          <a:xfrm>
            <a:off x="4976455" y="5128498"/>
            <a:ext cx="1928693" cy="241102"/>
          </a:xfrm>
          <a:prstGeom prst="rect">
            <a:avLst/>
          </a:prstGeom>
          <a:noFill/>
          <a:ln/>
        </p:spPr>
        <p:txBody>
          <a:bodyPr wrap="none" lIns="0" tIns="0" rIns="0" bIns="0" rtlCol="0" anchor="t"/>
          <a:lstStyle/>
          <a:p>
            <a:pPr algn="ctr" indent="0" marL="0">
              <a:lnSpc>
                <a:spcPts val="1850"/>
              </a:lnSpc>
              <a:buNone/>
            </a:pPr>
            <a:r>
              <a:rPr lang="en-US" sz="1500" b="1" dirty="0">
                <a:solidFill>
                  <a:srgbClr val="E5DCE6"/>
                </a:solidFill>
                <a:latin typeface="Bricolage Grotesque Extra Bold" pitchFamily="34" charset="0"/>
                <a:ea typeface="Bricolage Grotesque Extra Bold" pitchFamily="34" charset="-122"/>
                <a:cs typeface="Bricolage Grotesque Extra Bold" pitchFamily="34" charset="-120"/>
              </a:rPr>
              <a:t>UI Validation</a:t>
            </a:r>
            <a:endParaRPr lang="en-US" sz="1500" dirty="0"/>
          </a:p>
        </p:txBody>
      </p:sp>
      <p:sp>
        <p:nvSpPr>
          <p:cNvPr id="14" name="Text 11"/>
          <p:cNvSpPr/>
          <p:nvPr/>
        </p:nvSpPr>
        <p:spPr>
          <a:xfrm>
            <a:off x="3442692" y="5462111"/>
            <a:ext cx="4996220" cy="493633"/>
          </a:xfrm>
          <a:prstGeom prst="rect">
            <a:avLst/>
          </a:prstGeom>
          <a:noFill/>
          <a:ln/>
        </p:spPr>
        <p:txBody>
          <a:bodyPr wrap="square" lIns="0" tIns="0" rIns="0" bIns="0" rtlCol="0" anchor="t"/>
          <a:lstStyle/>
          <a:p>
            <a:pPr algn="ctr" indent="0" marL="0">
              <a:lnSpc>
                <a:spcPts val="1900"/>
              </a:lnSpc>
              <a:buNone/>
            </a:pPr>
            <a:r>
              <a:rPr lang="en-US" sz="1200" dirty="0">
                <a:solidFill>
                  <a:srgbClr val="E5DCE6"/>
                </a:solidFill>
                <a:latin typeface="Montserrat" pitchFamily="34" charset="0"/>
                <a:ea typeface="Montserrat" pitchFamily="34" charset="-122"/>
                <a:cs typeface="Montserrat" pitchFamily="34" charset="-120"/>
              </a:rPr>
              <a:t>Validated interface responsiveness and visual consistency across devices and screen sizes</a:t>
            </a:r>
            <a:endParaRPr lang="en-US" sz="1200" dirty="0"/>
          </a:p>
        </p:txBody>
      </p:sp>
      <p:sp>
        <p:nvSpPr>
          <p:cNvPr id="15" name="Shape 12"/>
          <p:cNvSpPr/>
          <p:nvPr/>
        </p:nvSpPr>
        <p:spPr>
          <a:xfrm>
            <a:off x="8677870" y="4048661"/>
            <a:ext cx="22860" cy="462796"/>
          </a:xfrm>
          <a:prstGeom prst="roundRect">
            <a:avLst>
              <a:gd name="adj" fmla="val 283484"/>
            </a:avLst>
          </a:prstGeom>
          <a:solidFill>
            <a:srgbClr val="414677"/>
          </a:solidFill>
          <a:ln/>
        </p:spPr>
      </p:sp>
      <p:sp>
        <p:nvSpPr>
          <p:cNvPr id="16" name="Shape 13"/>
          <p:cNvSpPr/>
          <p:nvPr/>
        </p:nvSpPr>
        <p:spPr>
          <a:xfrm>
            <a:off x="8515826" y="4337864"/>
            <a:ext cx="347067" cy="347067"/>
          </a:xfrm>
          <a:prstGeom prst="roundRect">
            <a:avLst>
              <a:gd name="adj" fmla="val 18672"/>
            </a:avLst>
          </a:prstGeom>
          <a:solidFill>
            <a:srgbClr val="282D5E"/>
          </a:solidFill>
          <a:ln/>
        </p:spPr>
      </p:sp>
      <p:sp>
        <p:nvSpPr>
          <p:cNvPr id="17" name="Text 14"/>
          <p:cNvSpPr/>
          <p:nvPr/>
        </p:nvSpPr>
        <p:spPr>
          <a:xfrm>
            <a:off x="8573631" y="4366736"/>
            <a:ext cx="231338" cy="289203"/>
          </a:xfrm>
          <a:prstGeom prst="rect">
            <a:avLst/>
          </a:prstGeom>
          <a:noFill/>
          <a:ln/>
        </p:spPr>
        <p:txBody>
          <a:bodyPr wrap="none" lIns="0" tIns="0" rIns="0" bIns="0" rtlCol="0" anchor="t"/>
          <a:lstStyle/>
          <a:p>
            <a:pPr algn="ctr" indent="0" marL="0">
              <a:lnSpc>
                <a:spcPts val="180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3</a:t>
            </a:r>
            <a:endParaRPr lang="en-US" sz="1800" dirty="0"/>
          </a:p>
        </p:txBody>
      </p:sp>
      <p:sp>
        <p:nvSpPr>
          <p:cNvPr id="18" name="Text 15"/>
          <p:cNvSpPr/>
          <p:nvPr/>
        </p:nvSpPr>
        <p:spPr>
          <a:xfrm>
            <a:off x="7725132" y="3067050"/>
            <a:ext cx="1928693" cy="241102"/>
          </a:xfrm>
          <a:prstGeom prst="rect">
            <a:avLst/>
          </a:prstGeom>
          <a:noFill/>
          <a:ln/>
        </p:spPr>
        <p:txBody>
          <a:bodyPr wrap="none" lIns="0" tIns="0" rIns="0" bIns="0" rtlCol="0" anchor="t"/>
          <a:lstStyle/>
          <a:p>
            <a:pPr algn="ctr" indent="0" marL="0">
              <a:lnSpc>
                <a:spcPts val="1850"/>
              </a:lnSpc>
              <a:buNone/>
            </a:pPr>
            <a:r>
              <a:rPr lang="en-US" sz="1500" b="1" dirty="0">
                <a:solidFill>
                  <a:srgbClr val="E5DCE6"/>
                </a:solidFill>
                <a:latin typeface="Bricolage Grotesque Extra Bold" pitchFamily="34" charset="0"/>
                <a:ea typeface="Bricolage Grotesque Extra Bold" pitchFamily="34" charset="-122"/>
                <a:cs typeface="Bricolage Grotesque Extra Bold" pitchFamily="34" charset="-120"/>
              </a:rPr>
              <a:t>Backend Stability</a:t>
            </a:r>
            <a:endParaRPr lang="en-US" sz="1500" dirty="0"/>
          </a:p>
        </p:txBody>
      </p:sp>
      <p:sp>
        <p:nvSpPr>
          <p:cNvPr id="19" name="Text 16"/>
          <p:cNvSpPr/>
          <p:nvPr/>
        </p:nvSpPr>
        <p:spPr>
          <a:xfrm>
            <a:off x="6191369" y="3400663"/>
            <a:ext cx="4996220" cy="493633"/>
          </a:xfrm>
          <a:prstGeom prst="rect">
            <a:avLst/>
          </a:prstGeom>
          <a:noFill/>
          <a:ln/>
        </p:spPr>
        <p:txBody>
          <a:bodyPr wrap="square" lIns="0" tIns="0" rIns="0" bIns="0" rtlCol="0" anchor="t"/>
          <a:lstStyle/>
          <a:p>
            <a:pPr algn="ctr" indent="0" marL="0">
              <a:lnSpc>
                <a:spcPts val="1900"/>
              </a:lnSpc>
              <a:buNone/>
            </a:pPr>
            <a:r>
              <a:rPr lang="en-US" sz="1200" dirty="0">
                <a:solidFill>
                  <a:srgbClr val="E5DCE6"/>
                </a:solidFill>
                <a:latin typeface="Montserrat" pitchFamily="34" charset="0"/>
                <a:ea typeface="Montserrat" pitchFamily="34" charset="-122"/>
                <a:cs typeface="Montserrat" pitchFamily="34" charset="-120"/>
              </a:rPr>
              <a:t>Ensured zero UI disruption during backend updates and system upgrades</a:t>
            </a:r>
            <a:endParaRPr lang="en-US" sz="1200" dirty="0"/>
          </a:p>
        </p:txBody>
      </p:sp>
      <p:sp>
        <p:nvSpPr>
          <p:cNvPr id="20" name="Shape 17"/>
          <p:cNvSpPr/>
          <p:nvPr/>
        </p:nvSpPr>
        <p:spPr>
          <a:xfrm>
            <a:off x="11426547" y="4511338"/>
            <a:ext cx="22860" cy="462796"/>
          </a:xfrm>
          <a:prstGeom prst="roundRect">
            <a:avLst>
              <a:gd name="adj" fmla="val 283484"/>
            </a:avLst>
          </a:prstGeom>
          <a:solidFill>
            <a:srgbClr val="414677"/>
          </a:solidFill>
          <a:ln/>
        </p:spPr>
      </p:sp>
      <p:sp>
        <p:nvSpPr>
          <p:cNvPr id="21" name="Shape 18"/>
          <p:cNvSpPr/>
          <p:nvPr/>
        </p:nvSpPr>
        <p:spPr>
          <a:xfrm>
            <a:off x="11264503" y="4337864"/>
            <a:ext cx="347067" cy="347067"/>
          </a:xfrm>
          <a:prstGeom prst="roundRect">
            <a:avLst>
              <a:gd name="adj" fmla="val 18672"/>
            </a:avLst>
          </a:prstGeom>
          <a:solidFill>
            <a:srgbClr val="282D5E"/>
          </a:solidFill>
          <a:ln/>
        </p:spPr>
      </p:sp>
      <p:sp>
        <p:nvSpPr>
          <p:cNvPr id="22" name="Text 19"/>
          <p:cNvSpPr/>
          <p:nvPr/>
        </p:nvSpPr>
        <p:spPr>
          <a:xfrm>
            <a:off x="11322308" y="4366736"/>
            <a:ext cx="231338" cy="289203"/>
          </a:xfrm>
          <a:prstGeom prst="rect">
            <a:avLst/>
          </a:prstGeom>
          <a:noFill/>
          <a:ln/>
        </p:spPr>
        <p:txBody>
          <a:bodyPr wrap="none" lIns="0" tIns="0" rIns="0" bIns="0" rtlCol="0" anchor="t"/>
          <a:lstStyle/>
          <a:p>
            <a:pPr algn="ctr" indent="0" marL="0">
              <a:lnSpc>
                <a:spcPts val="1800"/>
              </a:lnSpc>
              <a:buNone/>
            </a:pPr>
            <a:r>
              <a:rPr lang="en-US" sz="1800" b="1" dirty="0">
                <a:solidFill>
                  <a:srgbClr val="E5DCE6"/>
                </a:solidFill>
                <a:latin typeface="Bricolage Grotesque Extra Bold" pitchFamily="34" charset="0"/>
                <a:ea typeface="Bricolage Grotesque Extra Bold" pitchFamily="34" charset="-122"/>
                <a:cs typeface="Bricolage Grotesque Extra Bold" pitchFamily="34" charset="-120"/>
              </a:rPr>
              <a:t>4</a:t>
            </a:r>
            <a:endParaRPr lang="en-US" sz="1800" dirty="0"/>
          </a:p>
        </p:txBody>
      </p:sp>
      <p:sp>
        <p:nvSpPr>
          <p:cNvPr id="23" name="Text 20"/>
          <p:cNvSpPr/>
          <p:nvPr/>
        </p:nvSpPr>
        <p:spPr>
          <a:xfrm>
            <a:off x="10473809" y="5128498"/>
            <a:ext cx="1928693" cy="241102"/>
          </a:xfrm>
          <a:prstGeom prst="rect">
            <a:avLst/>
          </a:prstGeom>
          <a:noFill/>
          <a:ln/>
        </p:spPr>
        <p:txBody>
          <a:bodyPr wrap="none" lIns="0" tIns="0" rIns="0" bIns="0" rtlCol="0" anchor="t"/>
          <a:lstStyle/>
          <a:p>
            <a:pPr algn="ctr" indent="0" marL="0">
              <a:lnSpc>
                <a:spcPts val="1850"/>
              </a:lnSpc>
              <a:buNone/>
            </a:pPr>
            <a:r>
              <a:rPr lang="en-US" sz="1500" b="1" dirty="0">
                <a:solidFill>
                  <a:srgbClr val="E5DCE6"/>
                </a:solidFill>
                <a:latin typeface="Bricolage Grotesque Extra Bold" pitchFamily="34" charset="0"/>
                <a:ea typeface="Bricolage Grotesque Extra Bold" pitchFamily="34" charset="-122"/>
                <a:cs typeface="Bricolage Grotesque Extra Bold" pitchFamily="34" charset="-120"/>
              </a:rPr>
              <a:t>Bug Resolution</a:t>
            </a:r>
            <a:endParaRPr lang="en-US" sz="1500" dirty="0"/>
          </a:p>
        </p:txBody>
      </p:sp>
      <p:sp>
        <p:nvSpPr>
          <p:cNvPr id="24" name="Text 21"/>
          <p:cNvSpPr/>
          <p:nvPr/>
        </p:nvSpPr>
        <p:spPr>
          <a:xfrm>
            <a:off x="8940046" y="5462111"/>
            <a:ext cx="4996220" cy="493633"/>
          </a:xfrm>
          <a:prstGeom prst="rect">
            <a:avLst/>
          </a:prstGeom>
          <a:noFill/>
          <a:ln/>
        </p:spPr>
        <p:txBody>
          <a:bodyPr wrap="square" lIns="0" tIns="0" rIns="0" bIns="0" rtlCol="0" anchor="t"/>
          <a:lstStyle/>
          <a:p>
            <a:pPr algn="ctr" indent="0" marL="0">
              <a:lnSpc>
                <a:spcPts val="1900"/>
              </a:lnSpc>
              <a:buNone/>
            </a:pPr>
            <a:r>
              <a:rPr lang="en-US" sz="1200" dirty="0">
                <a:solidFill>
                  <a:srgbClr val="E5DCE6"/>
                </a:solidFill>
                <a:latin typeface="Montserrat" pitchFamily="34" charset="0"/>
                <a:ea typeface="Montserrat" pitchFamily="34" charset="-122"/>
                <a:cs typeface="Montserrat" pitchFamily="34" charset="-120"/>
              </a:rPr>
              <a:t>Identified and fixed critical bugs while optimizing performance for smooth operation</a:t>
            </a:r>
            <a:endParaRPr lang="en-US" sz="1200" dirty="0"/>
          </a:p>
        </p:txBody>
      </p:sp>
      <p:sp>
        <p:nvSpPr>
          <p:cNvPr id="25" name="Text 22"/>
          <p:cNvSpPr/>
          <p:nvPr/>
        </p:nvSpPr>
        <p:spPr>
          <a:xfrm>
            <a:off x="539948" y="6283404"/>
            <a:ext cx="2501979" cy="241102"/>
          </a:xfrm>
          <a:prstGeom prst="rect">
            <a:avLst/>
          </a:prstGeom>
          <a:noFill/>
          <a:ln/>
        </p:spPr>
        <p:txBody>
          <a:bodyPr wrap="none" lIns="0" tIns="0" rIns="0" bIns="0" rtlCol="0" anchor="t"/>
          <a:lstStyle/>
          <a:p>
            <a:pPr algn="l" indent="0" marL="0">
              <a:lnSpc>
                <a:spcPts val="1850"/>
              </a:lnSpc>
              <a:buNone/>
            </a:pPr>
            <a:r>
              <a:rPr lang="en-US" sz="1500" b="1" dirty="0">
                <a:solidFill>
                  <a:srgbClr val="EEAEF6"/>
                </a:solidFill>
                <a:latin typeface="Bricolage Grotesque Extra Bold" pitchFamily="34" charset="0"/>
                <a:ea typeface="Bricolage Grotesque Extra Bold" pitchFamily="34" charset="-122"/>
                <a:cs typeface="Bricolage Grotesque Extra Bold" pitchFamily="34" charset="-120"/>
              </a:rPr>
              <a:t>Quality Assurance Results</a:t>
            </a:r>
            <a:endParaRPr lang="en-US" sz="1500" dirty="0"/>
          </a:p>
        </p:txBody>
      </p:sp>
      <p:sp>
        <p:nvSpPr>
          <p:cNvPr id="26" name="Text 23"/>
          <p:cNvSpPr/>
          <p:nvPr/>
        </p:nvSpPr>
        <p:spPr>
          <a:xfrm>
            <a:off x="539948" y="6678692"/>
            <a:ext cx="6587014" cy="987266"/>
          </a:xfrm>
          <a:prstGeom prst="rect">
            <a:avLst/>
          </a:prstGeom>
          <a:noFill/>
          <a:ln/>
        </p:spPr>
        <p:txBody>
          <a:bodyPr wrap="square" lIns="0" tIns="0" rIns="0" bIns="0" rtlCol="0" anchor="t"/>
          <a:lstStyle/>
          <a:p>
            <a:pPr algn="l" indent="0" marL="0">
              <a:lnSpc>
                <a:spcPts val="1900"/>
              </a:lnSpc>
              <a:buNone/>
            </a:pPr>
            <a:r>
              <a:rPr lang="en-US" sz="1200" dirty="0">
                <a:solidFill>
                  <a:srgbClr val="E5DCE6"/>
                </a:solidFill>
                <a:latin typeface="Montserrat" pitchFamily="34" charset="0"/>
                <a:ea typeface="Montserrat" pitchFamily="34" charset="-122"/>
                <a:cs typeface="Montserrat" pitchFamily="34" charset="-120"/>
              </a:rPr>
              <a:t>Rigorous testing protocols confirmed system stability and ensured a seamless user experience. Every component was validated for reliability, performance, and consistency. The dashboard now operates smoothly under various conditions and load scenarios.</a:t>
            </a:r>
            <a:endParaRPr lang="en-US" sz="1200" dirty="0"/>
          </a:p>
        </p:txBody>
      </p:sp>
      <p:sp>
        <p:nvSpPr>
          <p:cNvPr id="27" name="Text 24"/>
          <p:cNvSpPr/>
          <p:nvPr/>
        </p:nvSpPr>
        <p:spPr>
          <a:xfrm>
            <a:off x="7511058" y="6379726"/>
            <a:ext cx="3197066" cy="509111"/>
          </a:xfrm>
          <a:prstGeom prst="rect">
            <a:avLst/>
          </a:prstGeom>
          <a:noFill/>
          <a:ln/>
        </p:spPr>
        <p:txBody>
          <a:bodyPr wrap="none" lIns="0" tIns="0" rIns="0" bIns="0" rtlCol="0" anchor="t"/>
          <a:lstStyle/>
          <a:p>
            <a:pPr algn="ctr" indent="0" marL="0">
              <a:lnSpc>
                <a:spcPts val="4000"/>
              </a:lnSpc>
              <a:buNone/>
            </a:pPr>
            <a:r>
              <a:rPr lang="en-US" sz="4000" b="1" dirty="0">
                <a:solidFill>
                  <a:srgbClr val="E5DCE6"/>
                </a:solidFill>
                <a:latin typeface="Bricolage Grotesque Extra Bold" pitchFamily="34" charset="0"/>
                <a:ea typeface="Bricolage Grotesque Extra Bold" pitchFamily="34" charset="-122"/>
                <a:cs typeface="Bricolage Grotesque Extra Bold" pitchFamily="34" charset="-120"/>
              </a:rPr>
              <a:t>Zero</a:t>
            </a:r>
            <a:endParaRPr lang="en-US" sz="4000" dirty="0"/>
          </a:p>
        </p:txBody>
      </p:sp>
      <p:sp>
        <p:nvSpPr>
          <p:cNvPr id="28" name="Text 25"/>
          <p:cNvSpPr/>
          <p:nvPr/>
        </p:nvSpPr>
        <p:spPr>
          <a:xfrm>
            <a:off x="8145185" y="7081480"/>
            <a:ext cx="1928693" cy="241102"/>
          </a:xfrm>
          <a:prstGeom prst="rect">
            <a:avLst/>
          </a:prstGeom>
          <a:noFill/>
          <a:ln/>
        </p:spPr>
        <p:txBody>
          <a:bodyPr wrap="none" lIns="0" tIns="0" rIns="0" bIns="0" rtlCol="0" anchor="t"/>
          <a:lstStyle/>
          <a:p>
            <a:pPr algn="ctr" indent="0" marL="0">
              <a:lnSpc>
                <a:spcPts val="1850"/>
              </a:lnSpc>
              <a:buNone/>
            </a:pPr>
            <a:r>
              <a:rPr lang="en-US" sz="1500" b="1" dirty="0">
                <a:solidFill>
                  <a:srgbClr val="E5DCE6"/>
                </a:solidFill>
                <a:latin typeface="Bricolage Grotesque Extra Bold" pitchFamily="34" charset="0"/>
                <a:ea typeface="Bricolage Grotesque Extra Bold" pitchFamily="34" charset="-122"/>
                <a:cs typeface="Bricolage Grotesque Extra Bold" pitchFamily="34" charset="-120"/>
              </a:rPr>
              <a:t>Critical Bugs</a:t>
            </a:r>
            <a:endParaRPr lang="en-US" sz="1500" dirty="0"/>
          </a:p>
        </p:txBody>
      </p:sp>
      <p:sp>
        <p:nvSpPr>
          <p:cNvPr id="29" name="Text 26"/>
          <p:cNvSpPr/>
          <p:nvPr/>
        </p:nvSpPr>
        <p:spPr>
          <a:xfrm>
            <a:off x="10900886" y="6379726"/>
            <a:ext cx="3197185" cy="509111"/>
          </a:xfrm>
          <a:prstGeom prst="rect">
            <a:avLst/>
          </a:prstGeom>
          <a:noFill/>
          <a:ln/>
        </p:spPr>
        <p:txBody>
          <a:bodyPr wrap="none" lIns="0" tIns="0" rIns="0" bIns="0" rtlCol="0" anchor="t"/>
          <a:lstStyle/>
          <a:p>
            <a:pPr algn="ctr" indent="0" marL="0">
              <a:lnSpc>
                <a:spcPts val="4000"/>
              </a:lnSpc>
              <a:buNone/>
            </a:pPr>
            <a:r>
              <a:rPr lang="en-US" sz="4000" b="1" dirty="0">
                <a:solidFill>
                  <a:srgbClr val="E5DCE6"/>
                </a:solidFill>
                <a:latin typeface="Bricolage Grotesque Extra Bold" pitchFamily="34" charset="0"/>
                <a:ea typeface="Bricolage Grotesque Extra Bold" pitchFamily="34" charset="-122"/>
                <a:cs typeface="Bricolage Grotesque Extra Bold" pitchFamily="34" charset="-120"/>
              </a:rPr>
              <a:t>100%</a:t>
            </a:r>
            <a:endParaRPr lang="en-US" sz="4000" dirty="0"/>
          </a:p>
        </p:txBody>
      </p:sp>
      <p:sp>
        <p:nvSpPr>
          <p:cNvPr id="30" name="Text 27"/>
          <p:cNvSpPr/>
          <p:nvPr/>
        </p:nvSpPr>
        <p:spPr>
          <a:xfrm>
            <a:off x="11535132" y="7081480"/>
            <a:ext cx="1928693" cy="241102"/>
          </a:xfrm>
          <a:prstGeom prst="rect">
            <a:avLst/>
          </a:prstGeom>
          <a:noFill/>
          <a:ln/>
        </p:spPr>
        <p:txBody>
          <a:bodyPr wrap="none" lIns="0" tIns="0" rIns="0" bIns="0" rtlCol="0" anchor="t"/>
          <a:lstStyle/>
          <a:p>
            <a:pPr algn="ctr" indent="0" marL="0">
              <a:lnSpc>
                <a:spcPts val="1850"/>
              </a:lnSpc>
              <a:buNone/>
            </a:pPr>
            <a:r>
              <a:rPr lang="en-US" sz="1500" b="1" dirty="0">
                <a:solidFill>
                  <a:srgbClr val="E5DCE6"/>
                </a:solidFill>
                <a:latin typeface="Bricolage Grotesque Extra Bold" pitchFamily="34" charset="0"/>
                <a:ea typeface="Bricolage Grotesque Extra Bold" pitchFamily="34" charset="-122"/>
                <a:cs typeface="Bricolage Grotesque Extra Bold" pitchFamily="34" charset="-120"/>
              </a:rPr>
              <a:t>Tests Passed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051352" y="752951"/>
            <a:ext cx="7271147" cy="504468"/>
          </a:xfrm>
          <a:prstGeom prst="rect">
            <a:avLst/>
          </a:prstGeom>
          <a:noFill/>
          <a:ln/>
        </p:spPr>
        <p:txBody>
          <a:bodyPr wrap="none" lIns="0" tIns="0" rIns="0" bIns="0" rtlCol="0" anchor="t"/>
          <a:lstStyle/>
          <a:p>
            <a:pPr algn="l" indent="0" marL="0">
              <a:lnSpc>
                <a:spcPts val="3950"/>
              </a:lnSpc>
              <a:buNone/>
            </a:pPr>
            <a:r>
              <a:rPr lang="en-US" sz="3150" b="1" dirty="0">
                <a:solidFill>
                  <a:srgbClr val="EEAEF6"/>
                </a:solidFill>
                <a:latin typeface="Bricolage Grotesque Extra Bold" pitchFamily="34" charset="0"/>
                <a:ea typeface="Bricolage Grotesque Extra Bold" pitchFamily="34" charset="-122"/>
                <a:cs typeface="Bricolage Grotesque Extra Bold" pitchFamily="34" charset="-120"/>
              </a:rPr>
              <a:t>Final Preparation &amp; Project Outcome</a:t>
            </a:r>
            <a:endParaRPr lang="en-US" sz="3150" dirty="0"/>
          </a:p>
        </p:txBody>
      </p:sp>
      <p:sp>
        <p:nvSpPr>
          <p:cNvPr id="4" name="Shape 1"/>
          <p:cNvSpPr/>
          <p:nvPr/>
        </p:nvSpPr>
        <p:spPr>
          <a:xfrm>
            <a:off x="6051352" y="1499473"/>
            <a:ext cx="3926324" cy="1446371"/>
          </a:xfrm>
          <a:prstGeom prst="roundRect">
            <a:avLst>
              <a:gd name="adj" fmla="val 4688"/>
            </a:avLst>
          </a:prstGeom>
          <a:solidFill>
            <a:srgbClr val="282D5E"/>
          </a:solidFill>
          <a:ln/>
        </p:spPr>
      </p:sp>
      <p:sp>
        <p:nvSpPr>
          <p:cNvPr id="5" name="Text 2"/>
          <p:cNvSpPr/>
          <p:nvPr/>
        </p:nvSpPr>
        <p:spPr>
          <a:xfrm>
            <a:off x="6212681" y="1660803"/>
            <a:ext cx="2552105" cy="252174"/>
          </a:xfrm>
          <a:prstGeom prst="rect">
            <a:avLst/>
          </a:prstGeom>
          <a:noFill/>
          <a:ln/>
        </p:spPr>
        <p:txBody>
          <a:bodyPr wrap="none" lIns="0" tIns="0" rIns="0" bIns="0" rtlCol="0" anchor="t"/>
          <a:lstStyle/>
          <a:p>
            <a:pPr algn="l"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Documentation Complete</a:t>
            </a:r>
            <a:endParaRPr lang="en-US" sz="1550" dirty="0"/>
          </a:p>
        </p:txBody>
      </p:sp>
      <p:sp>
        <p:nvSpPr>
          <p:cNvPr id="6" name="Text 3"/>
          <p:cNvSpPr/>
          <p:nvPr/>
        </p:nvSpPr>
        <p:spPr>
          <a:xfrm>
            <a:off x="6212681" y="2009775"/>
            <a:ext cx="3603665" cy="774740"/>
          </a:xfrm>
          <a:prstGeom prst="rect">
            <a:avLst/>
          </a:prstGeom>
          <a:noFill/>
          <a:ln/>
        </p:spPr>
        <p:txBody>
          <a:bodyPr wrap="square" lIns="0" tIns="0" rIns="0" bIns="0" rtlCol="0" anchor="t"/>
          <a:lstStyle/>
          <a:p>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Comprehensive technical documentation, user guides, and API references prepared for seamless handoff and future maintenance</a:t>
            </a:r>
            <a:endParaRPr lang="en-US" sz="1250" dirty="0"/>
          </a:p>
        </p:txBody>
      </p:sp>
      <p:sp>
        <p:nvSpPr>
          <p:cNvPr id="7" name="Shape 4"/>
          <p:cNvSpPr/>
          <p:nvPr/>
        </p:nvSpPr>
        <p:spPr>
          <a:xfrm>
            <a:off x="10139005" y="1499473"/>
            <a:ext cx="3926443" cy="1446371"/>
          </a:xfrm>
          <a:prstGeom prst="roundRect">
            <a:avLst>
              <a:gd name="adj" fmla="val 4688"/>
            </a:avLst>
          </a:prstGeom>
          <a:solidFill>
            <a:srgbClr val="282D5E"/>
          </a:solidFill>
          <a:ln/>
        </p:spPr>
      </p:sp>
      <p:sp>
        <p:nvSpPr>
          <p:cNvPr id="8" name="Text 5"/>
          <p:cNvSpPr/>
          <p:nvPr/>
        </p:nvSpPr>
        <p:spPr>
          <a:xfrm>
            <a:off x="10300335" y="1660803"/>
            <a:ext cx="2017752" cy="252174"/>
          </a:xfrm>
          <a:prstGeom prst="rect">
            <a:avLst/>
          </a:prstGeom>
          <a:noFill/>
          <a:ln/>
        </p:spPr>
        <p:txBody>
          <a:bodyPr wrap="none" lIns="0" tIns="0" rIns="0" bIns="0" rtlCol="0" anchor="t"/>
          <a:lstStyle/>
          <a:p>
            <a:pPr algn="l"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Presentation Ready</a:t>
            </a:r>
            <a:endParaRPr lang="en-US" sz="1550" dirty="0"/>
          </a:p>
        </p:txBody>
      </p:sp>
      <p:sp>
        <p:nvSpPr>
          <p:cNvPr id="9" name="Text 6"/>
          <p:cNvSpPr/>
          <p:nvPr/>
        </p:nvSpPr>
        <p:spPr>
          <a:xfrm>
            <a:off x="10300335" y="2009775"/>
            <a:ext cx="3603784" cy="774740"/>
          </a:xfrm>
          <a:prstGeom prst="rect">
            <a:avLst/>
          </a:prstGeom>
          <a:noFill/>
          <a:ln/>
        </p:spPr>
        <p:txBody>
          <a:bodyPr wrap="square" lIns="0" tIns="0" rIns="0" bIns="0" rtlCol="0" anchor="t"/>
          <a:lstStyle/>
          <a:p>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Professional presentation materials and demo flow created to showcase system capabilities to stakeholders</a:t>
            </a:r>
            <a:endParaRPr lang="en-US" sz="1250" dirty="0"/>
          </a:p>
        </p:txBody>
      </p:sp>
      <p:sp>
        <p:nvSpPr>
          <p:cNvPr id="10" name="Shape 7"/>
          <p:cNvSpPr/>
          <p:nvPr/>
        </p:nvSpPr>
        <p:spPr>
          <a:xfrm>
            <a:off x="6051352" y="3107174"/>
            <a:ext cx="8014097" cy="1188125"/>
          </a:xfrm>
          <a:prstGeom prst="roundRect">
            <a:avLst>
              <a:gd name="adj" fmla="val 5707"/>
            </a:avLst>
          </a:prstGeom>
          <a:solidFill>
            <a:srgbClr val="282D5E"/>
          </a:solidFill>
          <a:ln/>
        </p:spPr>
      </p:sp>
      <p:sp>
        <p:nvSpPr>
          <p:cNvPr id="11" name="Text 8"/>
          <p:cNvSpPr/>
          <p:nvPr/>
        </p:nvSpPr>
        <p:spPr>
          <a:xfrm>
            <a:off x="6212681" y="3268504"/>
            <a:ext cx="2017752" cy="252174"/>
          </a:xfrm>
          <a:prstGeom prst="rect">
            <a:avLst/>
          </a:prstGeom>
          <a:noFill/>
          <a:ln/>
        </p:spPr>
        <p:txBody>
          <a:bodyPr wrap="none" lIns="0" tIns="0" rIns="0" bIns="0" rtlCol="0" anchor="t"/>
          <a:lstStyle/>
          <a:p>
            <a:pPr algn="l"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End-to-End Verified</a:t>
            </a:r>
            <a:endParaRPr lang="en-US" sz="1550" dirty="0"/>
          </a:p>
        </p:txBody>
      </p:sp>
      <p:sp>
        <p:nvSpPr>
          <p:cNvPr id="12" name="Text 9"/>
          <p:cNvSpPr/>
          <p:nvPr/>
        </p:nvSpPr>
        <p:spPr>
          <a:xfrm>
            <a:off x="6212681" y="3617476"/>
            <a:ext cx="7691438" cy="516493"/>
          </a:xfrm>
          <a:prstGeom prst="rect">
            <a:avLst/>
          </a:prstGeom>
          <a:noFill/>
          <a:ln/>
        </p:spPr>
        <p:txBody>
          <a:bodyPr wrap="square" lIns="0" tIns="0" rIns="0" bIns="0" rtlCol="0" anchor="t"/>
          <a:lstStyle/>
          <a:p>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Full system functionality validated from data ingestion to user interface, ensuring flawless operation</a:t>
            </a:r>
            <a:endParaRPr lang="en-US" sz="1250" dirty="0"/>
          </a:p>
        </p:txBody>
      </p:sp>
      <p:sp>
        <p:nvSpPr>
          <p:cNvPr id="13" name="Text 10"/>
          <p:cNvSpPr/>
          <p:nvPr/>
        </p:nvSpPr>
        <p:spPr>
          <a:xfrm>
            <a:off x="6051352" y="4537353"/>
            <a:ext cx="6652498" cy="403622"/>
          </a:xfrm>
          <a:prstGeom prst="rect">
            <a:avLst/>
          </a:prstGeom>
          <a:noFill/>
          <a:ln/>
        </p:spPr>
        <p:txBody>
          <a:bodyPr wrap="none" lIns="0" tIns="0" rIns="0" bIns="0" rtlCol="0" anchor="t"/>
          <a:lstStyle/>
          <a:p>
            <a:pPr algn="l" indent="0" marL="0">
              <a:lnSpc>
                <a:spcPts val="3150"/>
              </a:lnSpc>
              <a:buNone/>
            </a:pPr>
            <a:r>
              <a:rPr lang="en-US" sz="2500" b="1" dirty="0">
                <a:solidFill>
                  <a:srgbClr val="EEAEF6"/>
                </a:solidFill>
                <a:latin typeface="Bricolage Grotesque Extra Bold" pitchFamily="34" charset="0"/>
                <a:ea typeface="Bricolage Grotesque Extra Bold" pitchFamily="34" charset="-122"/>
                <a:cs typeface="Bricolage Grotesque Extra Bold" pitchFamily="34" charset="-120"/>
              </a:rPr>
              <a:t>Final Outcome: Production-Ready System</a:t>
            </a:r>
            <a:endParaRPr lang="en-US" sz="2500" dirty="0"/>
          </a:p>
        </p:txBody>
      </p:sp>
      <p:sp>
        <p:nvSpPr>
          <p:cNvPr id="14" name="Text 11"/>
          <p:cNvSpPr/>
          <p:nvPr/>
        </p:nvSpPr>
        <p:spPr>
          <a:xfrm>
            <a:off x="6051352" y="5344358"/>
            <a:ext cx="2341959" cy="252174"/>
          </a:xfrm>
          <a:prstGeom prst="rect">
            <a:avLst/>
          </a:prstGeom>
          <a:noFill/>
          <a:ln/>
        </p:spPr>
        <p:txBody>
          <a:bodyPr wrap="none" lIns="0" tIns="0" rIns="0" bIns="0" rtlCol="0" anchor="t"/>
          <a:lstStyle/>
          <a:p>
            <a:pPr algn="l" indent="0" marL="0">
              <a:lnSpc>
                <a:spcPts val="1950"/>
              </a:lnSpc>
              <a:buNone/>
            </a:pPr>
            <a:r>
              <a:rPr lang="en-US" sz="1550" b="1" dirty="0">
                <a:solidFill>
                  <a:srgbClr val="EEAEF6"/>
                </a:solidFill>
                <a:latin typeface="Bricolage Grotesque Extra Bold" pitchFamily="34" charset="0"/>
                <a:ea typeface="Bricolage Grotesque Extra Bold" pitchFamily="34" charset="-122"/>
                <a:cs typeface="Bricolage Grotesque Extra Bold" pitchFamily="34" charset="-120"/>
              </a:rPr>
              <a:t>System Characteristics</a:t>
            </a:r>
            <a:endParaRPr lang="en-US" sz="1550" dirty="0"/>
          </a:p>
        </p:txBody>
      </p:sp>
      <p:sp>
        <p:nvSpPr>
          <p:cNvPr id="15" name="Text 12"/>
          <p:cNvSpPr/>
          <p:nvPr/>
        </p:nvSpPr>
        <p:spPr>
          <a:xfrm>
            <a:off x="6051352" y="5757862"/>
            <a:ext cx="3810119" cy="516493"/>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E5DCE6"/>
                </a:solidFill>
                <a:latin typeface="Montserrat" pitchFamily="34" charset="0"/>
                <a:ea typeface="Montserrat" pitchFamily="34" charset="-122"/>
                <a:cs typeface="Montserrat" pitchFamily="34" charset="-120"/>
              </a:rPr>
              <a:t>Fully Integrated:</a:t>
            </a:r>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 All components work seamlessly together</a:t>
            </a:r>
            <a:endParaRPr lang="en-US" sz="1250" dirty="0"/>
          </a:p>
        </p:txBody>
      </p:sp>
      <p:sp>
        <p:nvSpPr>
          <p:cNvPr id="16" name="Text 13"/>
          <p:cNvSpPr/>
          <p:nvPr/>
        </p:nvSpPr>
        <p:spPr>
          <a:xfrm>
            <a:off x="6051352" y="6330791"/>
            <a:ext cx="3810119" cy="516493"/>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E5DCE6"/>
                </a:solidFill>
                <a:latin typeface="Montserrat" pitchFamily="34" charset="0"/>
                <a:ea typeface="Montserrat" pitchFamily="34" charset="-122"/>
                <a:cs typeface="Montserrat" pitchFamily="34" charset="-120"/>
              </a:rPr>
              <a:t>Optimized:</a:t>
            </a:r>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 Performance tuned for speed and efficiency</a:t>
            </a:r>
            <a:endParaRPr lang="en-US" sz="1250" dirty="0"/>
          </a:p>
        </p:txBody>
      </p:sp>
      <p:sp>
        <p:nvSpPr>
          <p:cNvPr id="17" name="Text 14"/>
          <p:cNvSpPr/>
          <p:nvPr/>
        </p:nvSpPr>
        <p:spPr>
          <a:xfrm>
            <a:off x="6051352" y="6903720"/>
            <a:ext cx="3810119" cy="516493"/>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E5DCE6"/>
                </a:solidFill>
                <a:latin typeface="Montserrat" pitchFamily="34" charset="0"/>
                <a:ea typeface="Montserrat" pitchFamily="34" charset="-122"/>
                <a:cs typeface="Montserrat" pitchFamily="34" charset="-120"/>
              </a:rPr>
              <a:t>Deployment-Ready:</a:t>
            </a:r>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 Prepared for immediate production launch</a:t>
            </a:r>
            <a:endParaRPr lang="en-US" sz="1250" dirty="0"/>
          </a:p>
        </p:txBody>
      </p:sp>
      <p:sp>
        <p:nvSpPr>
          <p:cNvPr id="18" name="Text 15"/>
          <p:cNvSpPr/>
          <p:nvPr/>
        </p:nvSpPr>
        <p:spPr>
          <a:xfrm>
            <a:off x="10262949" y="5344358"/>
            <a:ext cx="2540794" cy="252174"/>
          </a:xfrm>
          <a:prstGeom prst="rect">
            <a:avLst/>
          </a:prstGeom>
          <a:noFill/>
          <a:ln/>
        </p:spPr>
        <p:txBody>
          <a:bodyPr wrap="none" lIns="0" tIns="0" rIns="0" bIns="0" rtlCol="0" anchor="t"/>
          <a:lstStyle/>
          <a:p>
            <a:pPr algn="l" indent="0" marL="0">
              <a:lnSpc>
                <a:spcPts val="1950"/>
              </a:lnSpc>
              <a:buNone/>
            </a:pPr>
            <a:r>
              <a:rPr lang="en-US" sz="1550" b="1" dirty="0">
                <a:solidFill>
                  <a:srgbClr val="EEAEF6"/>
                </a:solidFill>
                <a:latin typeface="Bricolage Grotesque Extra Bold" pitchFamily="34" charset="0"/>
                <a:ea typeface="Bricolage Grotesque Extra Bold" pitchFamily="34" charset="-122"/>
                <a:cs typeface="Bricolage Grotesque Extra Bold" pitchFamily="34" charset="-120"/>
              </a:rPr>
              <a:t>Ready for Real-World Use</a:t>
            </a:r>
            <a:endParaRPr lang="en-US" sz="1550" dirty="0"/>
          </a:p>
        </p:txBody>
      </p:sp>
      <p:sp>
        <p:nvSpPr>
          <p:cNvPr id="19" name="Text 16"/>
          <p:cNvSpPr/>
          <p:nvPr/>
        </p:nvSpPr>
        <p:spPr>
          <a:xfrm>
            <a:off x="10262949" y="5757862"/>
            <a:ext cx="3810119" cy="1291233"/>
          </a:xfrm>
          <a:prstGeom prst="rect">
            <a:avLst/>
          </a:prstGeom>
          <a:noFill/>
          <a:ln/>
        </p:spPr>
        <p:txBody>
          <a:bodyPr wrap="square" lIns="0" tIns="0" rIns="0" bIns="0" rtlCol="0" anchor="t"/>
          <a:lstStyle/>
          <a:p>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The Air Quality Monitoring Dashboard is now a complete, intelligent, real-time system ready to provide valuable insights and support critical decision-making for environmental health and public safety initiatives.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2026-01-02T16:35:08Z</dcterms:created>
  <dcterms:modified xsi:type="dcterms:W3CDTF">2026-01-02T16:35:08Z</dcterms:modified>
</cp:coreProperties>
</file>